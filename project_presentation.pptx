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4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119027-B3E4-4F93-9AE1-9181FE879854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D2CCA69-80D2-4F9B-AB8F-7C003089A762}">
      <dgm:prSet/>
      <dgm:spPr/>
      <dgm:t>
        <a:bodyPr/>
        <a:lstStyle/>
        <a:p>
          <a:r>
            <a:rPr lang="en-GB" b="1"/>
            <a:t>Top Predictive Features:</a:t>
          </a:r>
          <a:br>
            <a:rPr lang="en-GB"/>
          </a:br>
          <a:r>
            <a:rPr lang="en-GB"/>
            <a:t>• Recent donation recency</a:t>
          </a:r>
          <a:br>
            <a:rPr lang="en-GB"/>
          </a:br>
          <a:r>
            <a:rPr lang="en-GB"/>
            <a:t>• Monetary amount (12m &amp; 24m windows)</a:t>
          </a:r>
          <a:br>
            <a:rPr lang="en-GB"/>
          </a:br>
          <a:r>
            <a:rPr lang="en-GB"/>
            <a:t>• Frequency of giving</a:t>
          </a:r>
          <a:br>
            <a:rPr lang="en-GB"/>
          </a:br>
          <a:r>
            <a:rPr lang="en-GB"/>
            <a:t>• Segment &amp; country</a:t>
          </a:r>
          <a:br>
            <a:rPr lang="en-GB"/>
          </a:br>
          <a:r>
            <a:rPr lang="en-GB"/>
            <a:t>• New donor indicator</a:t>
          </a:r>
          <a:endParaRPr lang="en-US"/>
        </a:p>
      </dgm:t>
    </dgm:pt>
    <dgm:pt modelId="{7D57FE43-A91F-47D3-9C78-E22C25F84E7C}" type="parTrans" cxnId="{600B9B91-3B32-41E2-B37A-838EE0B57DEB}">
      <dgm:prSet/>
      <dgm:spPr/>
      <dgm:t>
        <a:bodyPr/>
        <a:lstStyle/>
        <a:p>
          <a:endParaRPr lang="en-US"/>
        </a:p>
      </dgm:t>
    </dgm:pt>
    <dgm:pt modelId="{A49FCD57-A893-48F6-941C-0CA1A9B18F7A}" type="sibTrans" cxnId="{600B9B91-3B32-41E2-B37A-838EE0B57DEB}">
      <dgm:prSet/>
      <dgm:spPr/>
      <dgm:t>
        <a:bodyPr/>
        <a:lstStyle/>
        <a:p>
          <a:endParaRPr lang="en-US"/>
        </a:p>
      </dgm:t>
    </dgm:pt>
    <dgm:pt modelId="{029F4BDC-90D9-472A-AF47-3B533E685D76}">
      <dgm:prSet/>
      <dgm:spPr/>
      <dgm:t>
        <a:bodyPr/>
        <a:lstStyle/>
        <a:p>
          <a:r>
            <a:rPr lang="en-GB" b="1"/>
            <a:t>Insights:</a:t>
          </a:r>
          <a:br>
            <a:rPr lang="en-GB"/>
          </a:br>
          <a:r>
            <a:rPr lang="en-GB"/>
            <a:t>• Recent &amp; higher-value donors are far more likely to give again</a:t>
          </a:r>
          <a:br>
            <a:rPr lang="en-GB"/>
          </a:br>
          <a:r>
            <a:rPr lang="en-GB"/>
            <a:t>• Very long recency strongly predicts churn</a:t>
          </a:r>
          <a:br>
            <a:rPr lang="en-GB"/>
          </a:br>
          <a:r>
            <a:rPr lang="en-GB"/>
            <a:t>• Simple behavioral features outperform complex models</a:t>
          </a:r>
          <a:endParaRPr lang="en-US"/>
        </a:p>
      </dgm:t>
    </dgm:pt>
    <dgm:pt modelId="{9C621191-0A85-4B9C-B19C-48369324D5DC}" type="parTrans" cxnId="{D8C37F73-5B0B-47CB-A44C-5566AFDA419A}">
      <dgm:prSet/>
      <dgm:spPr/>
      <dgm:t>
        <a:bodyPr/>
        <a:lstStyle/>
        <a:p>
          <a:endParaRPr lang="en-US"/>
        </a:p>
      </dgm:t>
    </dgm:pt>
    <dgm:pt modelId="{B9914FA8-A94A-4C0E-9301-4D490D9E94B3}" type="sibTrans" cxnId="{D8C37F73-5B0B-47CB-A44C-5566AFDA419A}">
      <dgm:prSet/>
      <dgm:spPr/>
      <dgm:t>
        <a:bodyPr/>
        <a:lstStyle/>
        <a:p>
          <a:endParaRPr lang="en-US"/>
        </a:p>
      </dgm:t>
    </dgm:pt>
    <dgm:pt modelId="{6EFAD3A1-644B-454A-A85D-67632626A79A}" type="pres">
      <dgm:prSet presAssocID="{B1119027-B3E4-4F93-9AE1-9181FE87985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8D1ABC0-BA45-452E-8C64-9BEB73C8D78D}" type="pres">
      <dgm:prSet presAssocID="{AD2CCA69-80D2-4F9B-AB8F-7C003089A762}" presName="hierRoot1" presStyleCnt="0"/>
      <dgm:spPr/>
    </dgm:pt>
    <dgm:pt modelId="{3B4C3519-EB6C-4313-A1C5-7ED361A7E0BE}" type="pres">
      <dgm:prSet presAssocID="{AD2CCA69-80D2-4F9B-AB8F-7C003089A762}" presName="composite" presStyleCnt="0"/>
      <dgm:spPr/>
    </dgm:pt>
    <dgm:pt modelId="{387FAE27-D36F-463B-B3FC-0E04EF868BDD}" type="pres">
      <dgm:prSet presAssocID="{AD2CCA69-80D2-4F9B-AB8F-7C003089A762}" presName="background" presStyleLbl="node0" presStyleIdx="0" presStyleCnt="2"/>
      <dgm:spPr/>
    </dgm:pt>
    <dgm:pt modelId="{6F1438BC-DABE-4E49-8492-D8D31B47C76C}" type="pres">
      <dgm:prSet presAssocID="{AD2CCA69-80D2-4F9B-AB8F-7C003089A762}" presName="text" presStyleLbl="fgAcc0" presStyleIdx="0" presStyleCnt="2">
        <dgm:presLayoutVars>
          <dgm:chPref val="3"/>
        </dgm:presLayoutVars>
      </dgm:prSet>
      <dgm:spPr/>
    </dgm:pt>
    <dgm:pt modelId="{8C02D6F6-EA56-4785-8691-9A9F199530BD}" type="pres">
      <dgm:prSet presAssocID="{AD2CCA69-80D2-4F9B-AB8F-7C003089A762}" presName="hierChild2" presStyleCnt="0"/>
      <dgm:spPr/>
    </dgm:pt>
    <dgm:pt modelId="{8EFF7931-986D-42D0-8DFE-C90B01C51916}" type="pres">
      <dgm:prSet presAssocID="{029F4BDC-90D9-472A-AF47-3B533E685D76}" presName="hierRoot1" presStyleCnt="0"/>
      <dgm:spPr/>
    </dgm:pt>
    <dgm:pt modelId="{C6B69721-607C-4847-9874-E484AF832F29}" type="pres">
      <dgm:prSet presAssocID="{029F4BDC-90D9-472A-AF47-3B533E685D76}" presName="composite" presStyleCnt="0"/>
      <dgm:spPr/>
    </dgm:pt>
    <dgm:pt modelId="{418E3746-265A-4202-9E45-B94FD0E17772}" type="pres">
      <dgm:prSet presAssocID="{029F4BDC-90D9-472A-AF47-3B533E685D76}" presName="background" presStyleLbl="node0" presStyleIdx="1" presStyleCnt="2"/>
      <dgm:spPr/>
    </dgm:pt>
    <dgm:pt modelId="{D1D1A38F-D4DE-4985-AEBA-D76E5721A6C9}" type="pres">
      <dgm:prSet presAssocID="{029F4BDC-90D9-472A-AF47-3B533E685D76}" presName="text" presStyleLbl="fgAcc0" presStyleIdx="1" presStyleCnt="2">
        <dgm:presLayoutVars>
          <dgm:chPref val="3"/>
        </dgm:presLayoutVars>
      </dgm:prSet>
      <dgm:spPr/>
    </dgm:pt>
    <dgm:pt modelId="{24B5C49B-56F9-42DF-AC11-2FA810F770DE}" type="pres">
      <dgm:prSet presAssocID="{029F4BDC-90D9-472A-AF47-3B533E685D76}" presName="hierChild2" presStyleCnt="0"/>
      <dgm:spPr/>
    </dgm:pt>
  </dgm:ptLst>
  <dgm:cxnLst>
    <dgm:cxn modelId="{F8C9B007-41C1-40AA-8152-5F18B5E92E33}" type="presOf" srcId="{029F4BDC-90D9-472A-AF47-3B533E685D76}" destId="{D1D1A38F-D4DE-4985-AEBA-D76E5721A6C9}" srcOrd="0" destOrd="0" presId="urn:microsoft.com/office/officeart/2005/8/layout/hierarchy1"/>
    <dgm:cxn modelId="{8C39DE1D-C12A-4A2A-85E4-A459621A9591}" type="presOf" srcId="{B1119027-B3E4-4F93-9AE1-9181FE879854}" destId="{6EFAD3A1-644B-454A-A85D-67632626A79A}" srcOrd="0" destOrd="0" presId="urn:microsoft.com/office/officeart/2005/8/layout/hierarchy1"/>
    <dgm:cxn modelId="{D8C37F73-5B0B-47CB-A44C-5566AFDA419A}" srcId="{B1119027-B3E4-4F93-9AE1-9181FE879854}" destId="{029F4BDC-90D9-472A-AF47-3B533E685D76}" srcOrd="1" destOrd="0" parTransId="{9C621191-0A85-4B9C-B19C-48369324D5DC}" sibTransId="{B9914FA8-A94A-4C0E-9301-4D490D9E94B3}"/>
    <dgm:cxn modelId="{600B9B91-3B32-41E2-B37A-838EE0B57DEB}" srcId="{B1119027-B3E4-4F93-9AE1-9181FE879854}" destId="{AD2CCA69-80D2-4F9B-AB8F-7C003089A762}" srcOrd="0" destOrd="0" parTransId="{7D57FE43-A91F-47D3-9C78-E22C25F84E7C}" sibTransId="{A49FCD57-A893-48F6-941C-0CA1A9B18F7A}"/>
    <dgm:cxn modelId="{C18188E5-4FEA-4F80-93EA-F62AA4F4EEFC}" type="presOf" srcId="{AD2CCA69-80D2-4F9B-AB8F-7C003089A762}" destId="{6F1438BC-DABE-4E49-8492-D8D31B47C76C}" srcOrd="0" destOrd="0" presId="urn:microsoft.com/office/officeart/2005/8/layout/hierarchy1"/>
    <dgm:cxn modelId="{DED0084F-D2D9-452F-9D5F-77BD78D5EBC5}" type="presParOf" srcId="{6EFAD3A1-644B-454A-A85D-67632626A79A}" destId="{E8D1ABC0-BA45-452E-8C64-9BEB73C8D78D}" srcOrd="0" destOrd="0" presId="urn:microsoft.com/office/officeart/2005/8/layout/hierarchy1"/>
    <dgm:cxn modelId="{19E0460E-FF2B-408D-A2AE-8428EB2831E7}" type="presParOf" srcId="{E8D1ABC0-BA45-452E-8C64-9BEB73C8D78D}" destId="{3B4C3519-EB6C-4313-A1C5-7ED361A7E0BE}" srcOrd="0" destOrd="0" presId="urn:microsoft.com/office/officeart/2005/8/layout/hierarchy1"/>
    <dgm:cxn modelId="{ED94CC59-95DC-4409-AB07-AC4128A00102}" type="presParOf" srcId="{3B4C3519-EB6C-4313-A1C5-7ED361A7E0BE}" destId="{387FAE27-D36F-463B-B3FC-0E04EF868BDD}" srcOrd="0" destOrd="0" presId="urn:microsoft.com/office/officeart/2005/8/layout/hierarchy1"/>
    <dgm:cxn modelId="{1B4EBB40-8E2B-4889-9F1E-3972E0686832}" type="presParOf" srcId="{3B4C3519-EB6C-4313-A1C5-7ED361A7E0BE}" destId="{6F1438BC-DABE-4E49-8492-D8D31B47C76C}" srcOrd="1" destOrd="0" presId="urn:microsoft.com/office/officeart/2005/8/layout/hierarchy1"/>
    <dgm:cxn modelId="{B6A8964F-B0FB-409D-8795-2588D4EED9D2}" type="presParOf" srcId="{E8D1ABC0-BA45-452E-8C64-9BEB73C8D78D}" destId="{8C02D6F6-EA56-4785-8691-9A9F199530BD}" srcOrd="1" destOrd="0" presId="urn:microsoft.com/office/officeart/2005/8/layout/hierarchy1"/>
    <dgm:cxn modelId="{911C1CAB-7A77-4417-8881-1D86B1461B5C}" type="presParOf" srcId="{6EFAD3A1-644B-454A-A85D-67632626A79A}" destId="{8EFF7931-986D-42D0-8DFE-C90B01C51916}" srcOrd="1" destOrd="0" presId="urn:microsoft.com/office/officeart/2005/8/layout/hierarchy1"/>
    <dgm:cxn modelId="{95E77CE5-010D-4A8E-9789-A5F87E49E17E}" type="presParOf" srcId="{8EFF7931-986D-42D0-8DFE-C90B01C51916}" destId="{C6B69721-607C-4847-9874-E484AF832F29}" srcOrd="0" destOrd="0" presId="urn:microsoft.com/office/officeart/2005/8/layout/hierarchy1"/>
    <dgm:cxn modelId="{293B3942-EB04-4889-AE40-C6BF8A04CA3A}" type="presParOf" srcId="{C6B69721-607C-4847-9874-E484AF832F29}" destId="{418E3746-265A-4202-9E45-B94FD0E17772}" srcOrd="0" destOrd="0" presId="urn:microsoft.com/office/officeart/2005/8/layout/hierarchy1"/>
    <dgm:cxn modelId="{7FA4F237-3FBA-4BE4-9222-2C1A1BF5DBC8}" type="presParOf" srcId="{C6B69721-607C-4847-9874-E484AF832F29}" destId="{D1D1A38F-D4DE-4985-AEBA-D76E5721A6C9}" srcOrd="1" destOrd="0" presId="urn:microsoft.com/office/officeart/2005/8/layout/hierarchy1"/>
    <dgm:cxn modelId="{747AF5F5-59F7-4ADD-88AC-378EA7DD9F29}" type="presParOf" srcId="{8EFF7931-986D-42D0-8DFE-C90B01C51916}" destId="{24B5C49B-56F9-42DF-AC11-2FA810F770D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A549BDC-AC64-4F91-B6B3-9BAE56D3484F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D3EEC1B3-7E25-4189-83B9-0A12E231375C}">
      <dgm:prSet/>
      <dgm:spPr/>
      <dgm:t>
        <a:bodyPr/>
        <a:lstStyle/>
        <a:p>
          <a:r>
            <a:rPr lang="sq-AL" b="1" dirty="0" err="1"/>
            <a:t>Current</a:t>
          </a:r>
          <a:r>
            <a:rPr lang="sq-AL" b="1" dirty="0"/>
            <a:t> </a:t>
          </a:r>
          <a:r>
            <a:rPr lang="sq-AL" b="1" dirty="0" err="1"/>
            <a:t>Strategy</a:t>
          </a:r>
          <a:r>
            <a:rPr lang="sq-AL" b="1" dirty="0"/>
            <a:t> (</a:t>
          </a:r>
          <a:r>
            <a:rPr lang="sq-AL" b="1" dirty="0" err="1"/>
            <a:t>Mail</a:t>
          </a:r>
          <a:r>
            <a:rPr lang="sq-AL" b="1" dirty="0"/>
            <a:t> </a:t>
          </a:r>
          <a:r>
            <a:rPr lang="sq-AL" b="1" dirty="0" err="1"/>
            <a:t>Everyone</a:t>
          </a:r>
          <a:r>
            <a:rPr lang="sq-AL" b="1" dirty="0"/>
            <a:t>):</a:t>
          </a:r>
          <a:endParaRPr lang="en-US" dirty="0"/>
        </a:p>
      </dgm:t>
    </dgm:pt>
    <dgm:pt modelId="{32822AE5-A05F-4391-9137-F439013225B6}" type="parTrans" cxnId="{71F29448-433A-45E7-9B4E-A5800BAD757F}">
      <dgm:prSet/>
      <dgm:spPr/>
      <dgm:t>
        <a:bodyPr/>
        <a:lstStyle/>
        <a:p>
          <a:endParaRPr lang="en-US"/>
        </a:p>
      </dgm:t>
    </dgm:pt>
    <dgm:pt modelId="{DD27520A-FDD3-4ABB-89F2-9792AA72B9CB}" type="sibTrans" cxnId="{71F29448-433A-45E7-9B4E-A5800BAD757F}">
      <dgm:prSet/>
      <dgm:spPr/>
      <dgm:t>
        <a:bodyPr/>
        <a:lstStyle/>
        <a:p>
          <a:endParaRPr lang="en-US"/>
        </a:p>
      </dgm:t>
    </dgm:pt>
    <dgm:pt modelId="{940560FC-7120-41CC-96B2-F0FA5FA9B938}">
      <dgm:prSet/>
      <dgm:spPr/>
      <dgm:t>
        <a:bodyPr/>
        <a:lstStyle/>
        <a:p>
          <a:r>
            <a:rPr lang="sq-AL"/>
            <a:t>Cost ≈ </a:t>
          </a:r>
          <a:r>
            <a:rPr lang="sq-AL" b="1"/>
            <a:t>€2.50 per donor</a:t>
          </a:r>
          <a:endParaRPr lang="en-US"/>
        </a:p>
      </dgm:t>
    </dgm:pt>
    <dgm:pt modelId="{6326891B-C3F1-49F0-ABDD-4024FF0856EA}" type="parTrans" cxnId="{1622C492-2238-49E2-A158-D0482C4E5C03}">
      <dgm:prSet/>
      <dgm:spPr/>
      <dgm:t>
        <a:bodyPr/>
        <a:lstStyle/>
        <a:p>
          <a:endParaRPr lang="en-US"/>
        </a:p>
      </dgm:t>
    </dgm:pt>
    <dgm:pt modelId="{B8BF39CF-0888-4CC1-81F9-D0E8DDDC72B2}" type="sibTrans" cxnId="{1622C492-2238-49E2-A158-D0482C4E5C03}">
      <dgm:prSet/>
      <dgm:spPr/>
      <dgm:t>
        <a:bodyPr/>
        <a:lstStyle/>
        <a:p>
          <a:endParaRPr lang="en-US"/>
        </a:p>
      </dgm:t>
    </dgm:pt>
    <dgm:pt modelId="{05C82B0E-933A-4906-8F7F-BC136FFE8EA6}">
      <dgm:prSet/>
      <dgm:spPr/>
      <dgm:t>
        <a:bodyPr/>
        <a:lstStyle/>
        <a:p>
          <a:r>
            <a:rPr lang="sq-AL"/>
            <a:t>2018 donations: </a:t>
          </a:r>
          <a:r>
            <a:rPr lang="sq-AL" b="1"/>
            <a:t>X</a:t>
          </a:r>
          <a:endParaRPr lang="en-US"/>
        </a:p>
      </dgm:t>
    </dgm:pt>
    <dgm:pt modelId="{D77B969B-CD10-4A63-BC2E-182C73CD686E}" type="parTrans" cxnId="{FD095D1D-B309-4EEC-B5F2-F8E51EB5EE8E}">
      <dgm:prSet/>
      <dgm:spPr/>
      <dgm:t>
        <a:bodyPr/>
        <a:lstStyle/>
        <a:p>
          <a:endParaRPr lang="en-US"/>
        </a:p>
      </dgm:t>
    </dgm:pt>
    <dgm:pt modelId="{89431099-4779-407E-9141-0F625C17EA42}" type="sibTrans" cxnId="{FD095D1D-B309-4EEC-B5F2-F8E51EB5EE8E}">
      <dgm:prSet/>
      <dgm:spPr/>
      <dgm:t>
        <a:bodyPr/>
        <a:lstStyle/>
        <a:p>
          <a:endParaRPr lang="en-US"/>
        </a:p>
      </dgm:t>
    </dgm:pt>
    <dgm:pt modelId="{D7D61308-EA8A-4122-9CC3-C7FB364EE8D9}">
      <dgm:prSet/>
      <dgm:spPr/>
      <dgm:t>
        <a:bodyPr/>
        <a:lstStyle/>
        <a:p>
          <a:r>
            <a:rPr lang="sq-AL"/>
            <a:t>Net profit ≈ </a:t>
          </a:r>
          <a:r>
            <a:rPr lang="sq-AL" b="1"/>
            <a:t>Revenue – Mailing cost</a:t>
          </a:r>
          <a:endParaRPr lang="en-US"/>
        </a:p>
      </dgm:t>
    </dgm:pt>
    <dgm:pt modelId="{C7954969-43B5-4786-913D-5214FD4244F5}" type="parTrans" cxnId="{EE297AA3-B896-429E-BB04-5A381BC222B1}">
      <dgm:prSet/>
      <dgm:spPr/>
      <dgm:t>
        <a:bodyPr/>
        <a:lstStyle/>
        <a:p>
          <a:endParaRPr lang="en-US"/>
        </a:p>
      </dgm:t>
    </dgm:pt>
    <dgm:pt modelId="{8E28634B-42F4-4FA3-A029-A35E06800C72}" type="sibTrans" cxnId="{EE297AA3-B896-429E-BB04-5A381BC222B1}">
      <dgm:prSet/>
      <dgm:spPr/>
      <dgm:t>
        <a:bodyPr/>
        <a:lstStyle/>
        <a:p>
          <a:endParaRPr lang="en-US"/>
        </a:p>
      </dgm:t>
    </dgm:pt>
    <dgm:pt modelId="{822F7945-93C0-42F1-8F50-83F02056280F}">
      <dgm:prSet/>
      <dgm:spPr/>
      <dgm:t>
        <a:bodyPr/>
        <a:lstStyle/>
        <a:p>
          <a:r>
            <a:rPr lang="sq-AL" b="1"/>
            <a:t>Model-Driven Strategy (Top 30–40% highest-scoring donors):</a:t>
          </a:r>
          <a:endParaRPr lang="en-US"/>
        </a:p>
      </dgm:t>
    </dgm:pt>
    <dgm:pt modelId="{264FBF72-01C3-41B3-9B66-C429A1771DFD}" type="parTrans" cxnId="{2386F502-DE8D-4DB3-B1DC-CC41365B1A74}">
      <dgm:prSet/>
      <dgm:spPr/>
      <dgm:t>
        <a:bodyPr/>
        <a:lstStyle/>
        <a:p>
          <a:endParaRPr lang="en-US"/>
        </a:p>
      </dgm:t>
    </dgm:pt>
    <dgm:pt modelId="{25F7FFBD-680C-4401-ACF3-91AAAF5336A9}" type="sibTrans" cxnId="{2386F502-DE8D-4DB3-B1DC-CC41365B1A74}">
      <dgm:prSet/>
      <dgm:spPr/>
      <dgm:t>
        <a:bodyPr/>
        <a:lstStyle/>
        <a:p>
          <a:endParaRPr lang="en-US"/>
        </a:p>
      </dgm:t>
    </dgm:pt>
    <dgm:pt modelId="{7F2E70BC-D43B-4ADF-8FE8-1D375F0F32FE}">
      <dgm:prSet/>
      <dgm:spPr/>
      <dgm:t>
        <a:bodyPr/>
        <a:lstStyle/>
        <a:p>
          <a:r>
            <a:rPr lang="sq-AL"/>
            <a:t>Cost drops by </a:t>
          </a:r>
          <a:r>
            <a:rPr lang="sq-AL" b="1"/>
            <a:t>60–70%</a:t>
          </a:r>
          <a:endParaRPr lang="en-US"/>
        </a:p>
      </dgm:t>
    </dgm:pt>
    <dgm:pt modelId="{798E6E3E-17D1-46B7-B371-041275D04F71}" type="parTrans" cxnId="{4F5CC29F-E0F6-4AC8-AC63-130E223F77CF}">
      <dgm:prSet/>
      <dgm:spPr/>
      <dgm:t>
        <a:bodyPr/>
        <a:lstStyle/>
        <a:p>
          <a:endParaRPr lang="en-US"/>
        </a:p>
      </dgm:t>
    </dgm:pt>
    <dgm:pt modelId="{40B60C9B-023E-4876-9853-504CF1424340}" type="sibTrans" cxnId="{4F5CC29F-E0F6-4AC8-AC63-130E223F77CF}">
      <dgm:prSet/>
      <dgm:spPr/>
      <dgm:t>
        <a:bodyPr/>
        <a:lstStyle/>
        <a:p>
          <a:endParaRPr lang="en-US"/>
        </a:p>
      </dgm:t>
    </dgm:pt>
    <dgm:pt modelId="{11A2A839-91C0-4098-87A8-359904435FA6}">
      <dgm:prSet/>
      <dgm:spPr/>
      <dgm:t>
        <a:bodyPr/>
        <a:lstStyle/>
        <a:p>
          <a:r>
            <a:rPr lang="sq-AL"/>
            <a:t>Captures </a:t>
          </a:r>
          <a:r>
            <a:rPr lang="sq-AL" b="1"/>
            <a:t>70–80% of all donations</a:t>
          </a:r>
          <a:endParaRPr lang="en-US"/>
        </a:p>
      </dgm:t>
    </dgm:pt>
    <dgm:pt modelId="{664263C3-F404-4C2A-8F47-DD385649027F}" type="parTrans" cxnId="{583B5BB7-60AC-4724-B3BD-4461CC5BDFE9}">
      <dgm:prSet/>
      <dgm:spPr/>
      <dgm:t>
        <a:bodyPr/>
        <a:lstStyle/>
        <a:p>
          <a:endParaRPr lang="en-US"/>
        </a:p>
      </dgm:t>
    </dgm:pt>
    <dgm:pt modelId="{C0031447-B6E2-44D4-8EA0-B5E511BC2EBD}" type="sibTrans" cxnId="{583B5BB7-60AC-4724-B3BD-4461CC5BDFE9}">
      <dgm:prSet/>
      <dgm:spPr/>
      <dgm:t>
        <a:bodyPr/>
        <a:lstStyle/>
        <a:p>
          <a:endParaRPr lang="en-US"/>
        </a:p>
      </dgm:t>
    </dgm:pt>
    <dgm:pt modelId="{9B1FE84B-831F-4943-9B92-ECDD3D33DCE5}">
      <dgm:prSet/>
      <dgm:spPr/>
      <dgm:t>
        <a:bodyPr/>
        <a:lstStyle/>
        <a:p>
          <a:r>
            <a:rPr lang="sq-AL"/>
            <a:t>Net profit increases significantly</a:t>
          </a:r>
          <a:endParaRPr lang="en-US"/>
        </a:p>
      </dgm:t>
    </dgm:pt>
    <dgm:pt modelId="{6C6967AD-A565-4425-97C6-E75D80EAD724}" type="parTrans" cxnId="{4E015F02-E4CA-4503-9D08-1D057CD92E16}">
      <dgm:prSet/>
      <dgm:spPr/>
      <dgm:t>
        <a:bodyPr/>
        <a:lstStyle/>
        <a:p>
          <a:endParaRPr lang="en-US"/>
        </a:p>
      </dgm:t>
    </dgm:pt>
    <dgm:pt modelId="{038273DB-E99C-4F29-89A4-517BCB3F7717}" type="sibTrans" cxnId="{4E015F02-E4CA-4503-9D08-1D057CD92E16}">
      <dgm:prSet/>
      <dgm:spPr/>
      <dgm:t>
        <a:bodyPr/>
        <a:lstStyle/>
        <a:p>
          <a:endParaRPr lang="en-US"/>
        </a:p>
      </dgm:t>
    </dgm:pt>
    <dgm:pt modelId="{12D9861C-E9D7-485D-A393-025FA6B8A982}">
      <dgm:prSet/>
      <dgm:spPr/>
      <dgm:t>
        <a:bodyPr/>
        <a:lstStyle/>
        <a:p>
          <a:r>
            <a:rPr lang="sq-AL" b="1"/>
            <a:t>Lift:</a:t>
          </a:r>
          <a:r>
            <a:rPr lang="sq-AL"/>
            <a:t> Top 10% donors deliver </a:t>
          </a:r>
          <a:r>
            <a:rPr lang="sq-AL" b="1"/>
            <a:t>3–4× more</a:t>
          </a:r>
          <a:r>
            <a:rPr lang="sq-AL"/>
            <a:t> donations than random targeting</a:t>
          </a:r>
          <a:endParaRPr lang="en-US"/>
        </a:p>
      </dgm:t>
    </dgm:pt>
    <dgm:pt modelId="{AD1FF4F3-B0A2-4980-9486-1B89D5F60F89}" type="parTrans" cxnId="{CAFAB62A-7BA5-4B53-949F-EA894FA7A9E5}">
      <dgm:prSet/>
      <dgm:spPr/>
      <dgm:t>
        <a:bodyPr/>
        <a:lstStyle/>
        <a:p>
          <a:endParaRPr lang="en-US"/>
        </a:p>
      </dgm:t>
    </dgm:pt>
    <dgm:pt modelId="{4B9AB32E-A6EB-4322-A71B-8D4564EF49C1}" type="sibTrans" cxnId="{CAFAB62A-7BA5-4B53-949F-EA894FA7A9E5}">
      <dgm:prSet/>
      <dgm:spPr/>
      <dgm:t>
        <a:bodyPr/>
        <a:lstStyle/>
        <a:p>
          <a:endParaRPr lang="en-US"/>
        </a:p>
      </dgm:t>
    </dgm:pt>
    <dgm:pt modelId="{A5CF9793-CE8A-4FF0-A08F-29B58268A582}" type="pres">
      <dgm:prSet presAssocID="{EA549BDC-AC64-4F91-B6B3-9BAE56D3484F}" presName="Name0" presStyleCnt="0">
        <dgm:presLayoutVars>
          <dgm:dir/>
          <dgm:resizeHandles val="exact"/>
        </dgm:presLayoutVars>
      </dgm:prSet>
      <dgm:spPr/>
    </dgm:pt>
    <dgm:pt modelId="{651C7F0B-8303-43B4-A389-32D22BBA7655}" type="pres">
      <dgm:prSet presAssocID="{D3EEC1B3-7E25-4189-83B9-0A12E231375C}" presName="node" presStyleLbl="node1" presStyleIdx="0" presStyleCnt="9">
        <dgm:presLayoutVars>
          <dgm:bulletEnabled val="1"/>
        </dgm:presLayoutVars>
      </dgm:prSet>
      <dgm:spPr/>
    </dgm:pt>
    <dgm:pt modelId="{924D9A91-827A-4E9C-BE4C-F231C51D1EFF}" type="pres">
      <dgm:prSet presAssocID="{DD27520A-FDD3-4ABB-89F2-9792AA72B9CB}" presName="sibTrans" presStyleLbl="sibTrans1D1" presStyleIdx="0" presStyleCnt="8"/>
      <dgm:spPr/>
    </dgm:pt>
    <dgm:pt modelId="{421158D9-6B03-4501-A1B0-7A51A544DED4}" type="pres">
      <dgm:prSet presAssocID="{DD27520A-FDD3-4ABB-89F2-9792AA72B9CB}" presName="connectorText" presStyleLbl="sibTrans1D1" presStyleIdx="0" presStyleCnt="8"/>
      <dgm:spPr/>
    </dgm:pt>
    <dgm:pt modelId="{A25313C9-5CE7-495E-86B7-66B2CB28E9D7}" type="pres">
      <dgm:prSet presAssocID="{940560FC-7120-41CC-96B2-F0FA5FA9B938}" presName="node" presStyleLbl="node1" presStyleIdx="1" presStyleCnt="9">
        <dgm:presLayoutVars>
          <dgm:bulletEnabled val="1"/>
        </dgm:presLayoutVars>
      </dgm:prSet>
      <dgm:spPr/>
    </dgm:pt>
    <dgm:pt modelId="{7036A471-5797-43B6-82C7-1226A8EE1F9A}" type="pres">
      <dgm:prSet presAssocID="{B8BF39CF-0888-4CC1-81F9-D0E8DDDC72B2}" presName="sibTrans" presStyleLbl="sibTrans1D1" presStyleIdx="1" presStyleCnt="8"/>
      <dgm:spPr/>
    </dgm:pt>
    <dgm:pt modelId="{C3FCD9AA-2815-4DE2-87B7-C3F0EEE1FF14}" type="pres">
      <dgm:prSet presAssocID="{B8BF39CF-0888-4CC1-81F9-D0E8DDDC72B2}" presName="connectorText" presStyleLbl="sibTrans1D1" presStyleIdx="1" presStyleCnt="8"/>
      <dgm:spPr/>
    </dgm:pt>
    <dgm:pt modelId="{F008FBDA-E05F-472F-8D36-3D1AD5A6611A}" type="pres">
      <dgm:prSet presAssocID="{05C82B0E-933A-4906-8F7F-BC136FFE8EA6}" presName="node" presStyleLbl="node1" presStyleIdx="2" presStyleCnt="9">
        <dgm:presLayoutVars>
          <dgm:bulletEnabled val="1"/>
        </dgm:presLayoutVars>
      </dgm:prSet>
      <dgm:spPr/>
    </dgm:pt>
    <dgm:pt modelId="{6F8A97A6-C693-4ADE-A5CA-C48F84918D4C}" type="pres">
      <dgm:prSet presAssocID="{89431099-4779-407E-9141-0F625C17EA42}" presName="sibTrans" presStyleLbl="sibTrans1D1" presStyleIdx="2" presStyleCnt="8"/>
      <dgm:spPr/>
    </dgm:pt>
    <dgm:pt modelId="{138EFC5F-C969-4A77-ACC4-9A62F1F5D96E}" type="pres">
      <dgm:prSet presAssocID="{89431099-4779-407E-9141-0F625C17EA42}" presName="connectorText" presStyleLbl="sibTrans1D1" presStyleIdx="2" presStyleCnt="8"/>
      <dgm:spPr/>
    </dgm:pt>
    <dgm:pt modelId="{E019E506-3C1A-4FA2-B2AC-A4CC58662079}" type="pres">
      <dgm:prSet presAssocID="{D7D61308-EA8A-4122-9CC3-C7FB364EE8D9}" presName="node" presStyleLbl="node1" presStyleIdx="3" presStyleCnt="9">
        <dgm:presLayoutVars>
          <dgm:bulletEnabled val="1"/>
        </dgm:presLayoutVars>
      </dgm:prSet>
      <dgm:spPr/>
    </dgm:pt>
    <dgm:pt modelId="{EC326542-D036-42DE-BCB7-FD5249131C0F}" type="pres">
      <dgm:prSet presAssocID="{8E28634B-42F4-4FA3-A029-A35E06800C72}" presName="sibTrans" presStyleLbl="sibTrans1D1" presStyleIdx="3" presStyleCnt="8"/>
      <dgm:spPr/>
    </dgm:pt>
    <dgm:pt modelId="{4BA4D36D-881D-4D10-9132-FDB11939BF6A}" type="pres">
      <dgm:prSet presAssocID="{8E28634B-42F4-4FA3-A029-A35E06800C72}" presName="connectorText" presStyleLbl="sibTrans1D1" presStyleIdx="3" presStyleCnt="8"/>
      <dgm:spPr/>
    </dgm:pt>
    <dgm:pt modelId="{864DECC4-820A-49F8-921F-A1B5EA7A408C}" type="pres">
      <dgm:prSet presAssocID="{822F7945-93C0-42F1-8F50-83F02056280F}" presName="node" presStyleLbl="node1" presStyleIdx="4" presStyleCnt="9">
        <dgm:presLayoutVars>
          <dgm:bulletEnabled val="1"/>
        </dgm:presLayoutVars>
      </dgm:prSet>
      <dgm:spPr/>
    </dgm:pt>
    <dgm:pt modelId="{3B11CD19-BC83-44E1-B7C5-C76FAE75EC9E}" type="pres">
      <dgm:prSet presAssocID="{25F7FFBD-680C-4401-ACF3-91AAAF5336A9}" presName="sibTrans" presStyleLbl="sibTrans1D1" presStyleIdx="4" presStyleCnt="8"/>
      <dgm:spPr/>
    </dgm:pt>
    <dgm:pt modelId="{48D92AB9-E47C-4B47-8F16-DD41DBDB2B5F}" type="pres">
      <dgm:prSet presAssocID="{25F7FFBD-680C-4401-ACF3-91AAAF5336A9}" presName="connectorText" presStyleLbl="sibTrans1D1" presStyleIdx="4" presStyleCnt="8"/>
      <dgm:spPr/>
    </dgm:pt>
    <dgm:pt modelId="{865BFB7D-8411-4C7C-A7CE-9A97D8B9CEB7}" type="pres">
      <dgm:prSet presAssocID="{7F2E70BC-D43B-4ADF-8FE8-1D375F0F32FE}" presName="node" presStyleLbl="node1" presStyleIdx="5" presStyleCnt="9">
        <dgm:presLayoutVars>
          <dgm:bulletEnabled val="1"/>
        </dgm:presLayoutVars>
      </dgm:prSet>
      <dgm:spPr/>
    </dgm:pt>
    <dgm:pt modelId="{E2FE0675-7CF6-4791-8168-F83DB09E4526}" type="pres">
      <dgm:prSet presAssocID="{40B60C9B-023E-4876-9853-504CF1424340}" presName="sibTrans" presStyleLbl="sibTrans1D1" presStyleIdx="5" presStyleCnt="8"/>
      <dgm:spPr/>
    </dgm:pt>
    <dgm:pt modelId="{8290AACF-7906-4CBC-9DE6-5DAF52A24973}" type="pres">
      <dgm:prSet presAssocID="{40B60C9B-023E-4876-9853-504CF1424340}" presName="connectorText" presStyleLbl="sibTrans1D1" presStyleIdx="5" presStyleCnt="8"/>
      <dgm:spPr/>
    </dgm:pt>
    <dgm:pt modelId="{FD55AD58-78AE-4550-9E58-52666EB9B2BC}" type="pres">
      <dgm:prSet presAssocID="{11A2A839-91C0-4098-87A8-359904435FA6}" presName="node" presStyleLbl="node1" presStyleIdx="6" presStyleCnt="9">
        <dgm:presLayoutVars>
          <dgm:bulletEnabled val="1"/>
        </dgm:presLayoutVars>
      </dgm:prSet>
      <dgm:spPr/>
    </dgm:pt>
    <dgm:pt modelId="{947ECD2D-7F9A-42FF-9FBA-2CDE3A03AABC}" type="pres">
      <dgm:prSet presAssocID="{C0031447-B6E2-44D4-8EA0-B5E511BC2EBD}" presName="sibTrans" presStyleLbl="sibTrans1D1" presStyleIdx="6" presStyleCnt="8"/>
      <dgm:spPr/>
    </dgm:pt>
    <dgm:pt modelId="{C25B0CEA-2F13-4E35-A3ED-09CDA95DAB13}" type="pres">
      <dgm:prSet presAssocID="{C0031447-B6E2-44D4-8EA0-B5E511BC2EBD}" presName="connectorText" presStyleLbl="sibTrans1D1" presStyleIdx="6" presStyleCnt="8"/>
      <dgm:spPr/>
    </dgm:pt>
    <dgm:pt modelId="{298B8567-69B7-4E7D-A75A-D4BD83DAEC23}" type="pres">
      <dgm:prSet presAssocID="{9B1FE84B-831F-4943-9B92-ECDD3D33DCE5}" presName="node" presStyleLbl="node1" presStyleIdx="7" presStyleCnt="9">
        <dgm:presLayoutVars>
          <dgm:bulletEnabled val="1"/>
        </dgm:presLayoutVars>
      </dgm:prSet>
      <dgm:spPr/>
    </dgm:pt>
    <dgm:pt modelId="{C456CEB1-0B15-4793-8CA3-2C8D67CBFB7F}" type="pres">
      <dgm:prSet presAssocID="{038273DB-E99C-4F29-89A4-517BCB3F7717}" presName="sibTrans" presStyleLbl="sibTrans1D1" presStyleIdx="7" presStyleCnt="8"/>
      <dgm:spPr/>
    </dgm:pt>
    <dgm:pt modelId="{83E966F6-B66C-452A-9F39-BBF14F1F5D2A}" type="pres">
      <dgm:prSet presAssocID="{038273DB-E99C-4F29-89A4-517BCB3F7717}" presName="connectorText" presStyleLbl="sibTrans1D1" presStyleIdx="7" presStyleCnt="8"/>
      <dgm:spPr/>
    </dgm:pt>
    <dgm:pt modelId="{45408BA8-1233-423C-8E5A-461321C1A5D5}" type="pres">
      <dgm:prSet presAssocID="{12D9861C-E9D7-485D-A393-025FA6B8A982}" presName="node" presStyleLbl="node1" presStyleIdx="8" presStyleCnt="9">
        <dgm:presLayoutVars>
          <dgm:bulletEnabled val="1"/>
        </dgm:presLayoutVars>
      </dgm:prSet>
      <dgm:spPr/>
    </dgm:pt>
  </dgm:ptLst>
  <dgm:cxnLst>
    <dgm:cxn modelId="{4E015F02-E4CA-4503-9D08-1D057CD92E16}" srcId="{EA549BDC-AC64-4F91-B6B3-9BAE56D3484F}" destId="{9B1FE84B-831F-4943-9B92-ECDD3D33DCE5}" srcOrd="7" destOrd="0" parTransId="{6C6967AD-A565-4425-97C6-E75D80EAD724}" sibTransId="{038273DB-E99C-4F29-89A4-517BCB3F7717}"/>
    <dgm:cxn modelId="{2386F502-DE8D-4DB3-B1DC-CC41365B1A74}" srcId="{EA549BDC-AC64-4F91-B6B3-9BAE56D3484F}" destId="{822F7945-93C0-42F1-8F50-83F02056280F}" srcOrd="4" destOrd="0" parTransId="{264FBF72-01C3-41B3-9B66-C429A1771DFD}" sibTransId="{25F7FFBD-680C-4401-ACF3-91AAAF5336A9}"/>
    <dgm:cxn modelId="{0D287F0E-1F8C-4C90-B044-ED4B264BADD4}" type="presOf" srcId="{C0031447-B6E2-44D4-8EA0-B5E511BC2EBD}" destId="{947ECD2D-7F9A-42FF-9FBA-2CDE3A03AABC}" srcOrd="0" destOrd="0" presId="urn:microsoft.com/office/officeart/2016/7/layout/RepeatingBendingProcessNew"/>
    <dgm:cxn modelId="{AC42F714-6211-4903-951F-7F3FC6D937D8}" type="presOf" srcId="{25F7FFBD-680C-4401-ACF3-91AAAF5336A9}" destId="{48D92AB9-E47C-4B47-8F16-DD41DBDB2B5F}" srcOrd="1" destOrd="0" presId="urn:microsoft.com/office/officeart/2016/7/layout/RepeatingBendingProcessNew"/>
    <dgm:cxn modelId="{FD095D1D-B309-4EEC-B5F2-F8E51EB5EE8E}" srcId="{EA549BDC-AC64-4F91-B6B3-9BAE56D3484F}" destId="{05C82B0E-933A-4906-8F7F-BC136FFE8EA6}" srcOrd="2" destOrd="0" parTransId="{D77B969B-CD10-4A63-BC2E-182C73CD686E}" sibTransId="{89431099-4779-407E-9141-0F625C17EA42}"/>
    <dgm:cxn modelId="{CAFAB62A-7BA5-4B53-949F-EA894FA7A9E5}" srcId="{EA549BDC-AC64-4F91-B6B3-9BAE56D3484F}" destId="{12D9861C-E9D7-485D-A393-025FA6B8A982}" srcOrd="8" destOrd="0" parTransId="{AD1FF4F3-B0A2-4980-9486-1B89D5F60F89}" sibTransId="{4B9AB32E-A6EB-4322-A71B-8D4564EF49C1}"/>
    <dgm:cxn modelId="{5D9C172D-F9DF-40FA-8A3A-8A0855B5B8B7}" type="presOf" srcId="{89431099-4779-407E-9141-0F625C17EA42}" destId="{138EFC5F-C969-4A77-ACC4-9A62F1F5D96E}" srcOrd="1" destOrd="0" presId="urn:microsoft.com/office/officeart/2016/7/layout/RepeatingBendingProcessNew"/>
    <dgm:cxn modelId="{533F8135-2955-42FB-B503-DFB63B5AEEF4}" type="presOf" srcId="{DD27520A-FDD3-4ABB-89F2-9792AA72B9CB}" destId="{924D9A91-827A-4E9C-BE4C-F231C51D1EFF}" srcOrd="0" destOrd="0" presId="urn:microsoft.com/office/officeart/2016/7/layout/RepeatingBendingProcessNew"/>
    <dgm:cxn modelId="{79DA4537-6D65-464D-87E1-E755E7635028}" type="presOf" srcId="{940560FC-7120-41CC-96B2-F0FA5FA9B938}" destId="{A25313C9-5CE7-495E-86B7-66B2CB28E9D7}" srcOrd="0" destOrd="0" presId="urn:microsoft.com/office/officeart/2016/7/layout/RepeatingBendingProcessNew"/>
    <dgm:cxn modelId="{83688F37-3126-418D-B49B-F82D4DDA7DFA}" type="presOf" srcId="{12D9861C-E9D7-485D-A393-025FA6B8A982}" destId="{45408BA8-1233-423C-8E5A-461321C1A5D5}" srcOrd="0" destOrd="0" presId="urn:microsoft.com/office/officeart/2016/7/layout/RepeatingBendingProcessNew"/>
    <dgm:cxn modelId="{8B9EA25B-F544-430D-96D2-D7EEFE7DA9CF}" type="presOf" srcId="{7F2E70BC-D43B-4ADF-8FE8-1D375F0F32FE}" destId="{865BFB7D-8411-4C7C-A7CE-9A97D8B9CEB7}" srcOrd="0" destOrd="0" presId="urn:microsoft.com/office/officeart/2016/7/layout/RepeatingBendingProcessNew"/>
    <dgm:cxn modelId="{4495B65E-C7B2-4DCE-B900-633DA07D6522}" type="presOf" srcId="{89431099-4779-407E-9141-0F625C17EA42}" destId="{6F8A97A6-C693-4ADE-A5CA-C48F84918D4C}" srcOrd="0" destOrd="0" presId="urn:microsoft.com/office/officeart/2016/7/layout/RepeatingBendingProcessNew"/>
    <dgm:cxn modelId="{7786CD5F-E870-462A-801B-8E7F88ABF299}" type="presOf" srcId="{822F7945-93C0-42F1-8F50-83F02056280F}" destId="{864DECC4-820A-49F8-921F-A1B5EA7A408C}" srcOrd="0" destOrd="0" presId="urn:microsoft.com/office/officeart/2016/7/layout/RepeatingBendingProcessNew"/>
    <dgm:cxn modelId="{C76C4941-C108-45A6-9A4B-9BF0AE89E952}" type="presOf" srcId="{11A2A839-91C0-4098-87A8-359904435FA6}" destId="{FD55AD58-78AE-4550-9E58-52666EB9B2BC}" srcOrd="0" destOrd="0" presId="urn:microsoft.com/office/officeart/2016/7/layout/RepeatingBendingProcessNew"/>
    <dgm:cxn modelId="{B0503E42-5E31-4E1D-9F19-B6F42E5266BE}" type="presOf" srcId="{B8BF39CF-0888-4CC1-81F9-D0E8DDDC72B2}" destId="{7036A471-5797-43B6-82C7-1226A8EE1F9A}" srcOrd="0" destOrd="0" presId="urn:microsoft.com/office/officeart/2016/7/layout/RepeatingBendingProcessNew"/>
    <dgm:cxn modelId="{71F29448-433A-45E7-9B4E-A5800BAD757F}" srcId="{EA549BDC-AC64-4F91-B6B3-9BAE56D3484F}" destId="{D3EEC1B3-7E25-4189-83B9-0A12E231375C}" srcOrd="0" destOrd="0" parTransId="{32822AE5-A05F-4391-9137-F439013225B6}" sibTransId="{DD27520A-FDD3-4ABB-89F2-9792AA72B9CB}"/>
    <dgm:cxn modelId="{A3432869-C504-448A-864C-7B16DEDE541B}" type="presOf" srcId="{40B60C9B-023E-4876-9853-504CF1424340}" destId="{8290AACF-7906-4CBC-9DE6-5DAF52A24973}" srcOrd="1" destOrd="0" presId="urn:microsoft.com/office/officeart/2016/7/layout/RepeatingBendingProcessNew"/>
    <dgm:cxn modelId="{12C90C6B-2883-4CBD-A4CE-666542EF4C13}" type="presOf" srcId="{8E28634B-42F4-4FA3-A029-A35E06800C72}" destId="{4BA4D36D-881D-4D10-9132-FDB11939BF6A}" srcOrd="1" destOrd="0" presId="urn:microsoft.com/office/officeart/2016/7/layout/RepeatingBendingProcessNew"/>
    <dgm:cxn modelId="{D52C744B-8088-425B-A8E1-DB0FD578DC84}" type="presOf" srcId="{038273DB-E99C-4F29-89A4-517BCB3F7717}" destId="{C456CEB1-0B15-4793-8CA3-2C8D67CBFB7F}" srcOrd="0" destOrd="0" presId="urn:microsoft.com/office/officeart/2016/7/layout/RepeatingBendingProcessNew"/>
    <dgm:cxn modelId="{F940B181-F349-4812-B35E-0262C465E1D0}" type="presOf" srcId="{9B1FE84B-831F-4943-9B92-ECDD3D33DCE5}" destId="{298B8567-69B7-4E7D-A75A-D4BD83DAEC23}" srcOrd="0" destOrd="0" presId="urn:microsoft.com/office/officeart/2016/7/layout/RepeatingBendingProcessNew"/>
    <dgm:cxn modelId="{0ACE7B88-70A6-42B3-A929-E8BE36126FF2}" type="presOf" srcId="{D3EEC1B3-7E25-4189-83B9-0A12E231375C}" destId="{651C7F0B-8303-43B4-A389-32D22BBA7655}" srcOrd="0" destOrd="0" presId="urn:microsoft.com/office/officeart/2016/7/layout/RepeatingBendingProcessNew"/>
    <dgm:cxn modelId="{1622C492-2238-49E2-A158-D0482C4E5C03}" srcId="{EA549BDC-AC64-4F91-B6B3-9BAE56D3484F}" destId="{940560FC-7120-41CC-96B2-F0FA5FA9B938}" srcOrd="1" destOrd="0" parTransId="{6326891B-C3F1-49F0-ABDD-4024FF0856EA}" sibTransId="{B8BF39CF-0888-4CC1-81F9-D0E8DDDC72B2}"/>
    <dgm:cxn modelId="{4F5CC29F-E0F6-4AC8-AC63-130E223F77CF}" srcId="{EA549BDC-AC64-4F91-B6B3-9BAE56D3484F}" destId="{7F2E70BC-D43B-4ADF-8FE8-1D375F0F32FE}" srcOrd="5" destOrd="0" parTransId="{798E6E3E-17D1-46B7-B371-041275D04F71}" sibTransId="{40B60C9B-023E-4876-9853-504CF1424340}"/>
    <dgm:cxn modelId="{EE297AA3-B896-429E-BB04-5A381BC222B1}" srcId="{EA549BDC-AC64-4F91-B6B3-9BAE56D3484F}" destId="{D7D61308-EA8A-4122-9CC3-C7FB364EE8D9}" srcOrd="3" destOrd="0" parTransId="{C7954969-43B5-4786-913D-5214FD4244F5}" sibTransId="{8E28634B-42F4-4FA3-A029-A35E06800C72}"/>
    <dgm:cxn modelId="{583B5BB7-60AC-4724-B3BD-4461CC5BDFE9}" srcId="{EA549BDC-AC64-4F91-B6B3-9BAE56D3484F}" destId="{11A2A839-91C0-4098-87A8-359904435FA6}" srcOrd="6" destOrd="0" parTransId="{664263C3-F404-4C2A-8F47-DD385649027F}" sibTransId="{C0031447-B6E2-44D4-8EA0-B5E511BC2EBD}"/>
    <dgm:cxn modelId="{65954CB9-218A-4650-ADF9-B81EB9B731F4}" type="presOf" srcId="{40B60C9B-023E-4876-9853-504CF1424340}" destId="{E2FE0675-7CF6-4791-8168-F83DB09E4526}" srcOrd="0" destOrd="0" presId="urn:microsoft.com/office/officeart/2016/7/layout/RepeatingBendingProcessNew"/>
    <dgm:cxn modelId="{B5445BBA-7A36-4D85-ADB2-2853268E5B68}" type="presOf" srcId="{B8BF39CF-0888-4CC1-81F9-D0E8DDDC72B2}" destId="{C3FCD9AA-2815-4DE2-87B7-C3F0EEE1FF14}" srcOrd="1" destOrd="0" presId="urn:microsoft.com/office/officeart/2016/7/layout/RepeatingBendingProcessNew"/>
    <dgm:cxn modelId="{180A29C3-5D9C-4806-8C35-7A96517F9B84}" type="presOf" srcId="{05C82B0E-933A-4906-8F7F-BC136FFE8EA6}" destId="{F008FBDA-E05F-472F-8D36-3D1AD5A6611A}" srcOrd="0" destOrd="0" presId="urn:microsoft.com/office/officeart/2016/7/layout/RepeatingBendingProcessNew"/>
    <dgm:cxn modelId="{FEA093C3-1849-4B54-AAB6-83338B79DA24}" type="presOf" srcId="{25F7FFBD-680C-4401-ACF3-91AAAF5336A9}" destId="{3B11CD19-BC83-44E1-B7C5-C76FAE75EC9E}" srcOrd="0" destOrd="0" presId="urn:microsoft.com/office/officeart/2016/7/layout/RepeatingBendingProcessNew"/>
    <dgm:cxn modelId="{5544E3D4-5521-4E4C-B1D0-03F7FE847A8D}" type="presOf" srcId="{C0031447-B6E2-44D4-8EA0-B5E511BC2EBD}" destId="{C25B0CEA-2F13-4E35-A3ED-09CDA95DAB13}" srcOrd="1" destOrd="0" presId="urn:microsoft.com/office/officeart/2016/7/layout/RepeatingBendingProcessNew"/>
    <dgm:cxn modelId="{C697FFD6-D9EC-4B96-8F4C-1A16524FE743}" type="presOf" srcId="{D7D61308-EA8A-4122-9CC3-C7FB364EE8D9}" destId="{E019E506-3C1A-4FA2-B2AC-A4CC58662079}" srcOrd="0" destOrd="0" presId="urn:microsoft.com/office/officeart/2016/7/layout/RepeatingBendingProcessNew"/>
    <dgm:cxn modelId="{6076DDD7-FD11-4717-9081-01E5D60F8EE8}" type="presOf" srcId="{038273DB-E99C-4F29-89A4-517BCB3F7717}" destId="{83E966F6-B66C-452A-9F39-BBF14F1F5D2A}" srcOrd="1" destOrd="0" presId="urn:microsoft.com/office/officeart/2016/7/layout/RepeatingBendingProcessNew"/>
    <dgm:cxn modelId="{51F73CE0-2BFB-4F5B-8A5B-B1E8778D8DC0}" type="presOf" srcId="{DD27520A-FDD3-4ABB-89F2-9792AA72B9CB}" destId="{421158D9-6B03-4501-A1B0-7A51A544DED4}" srcOrd="1" destOrd="0" presId="urn:microsoft.com/office/officeart/2016/7/layout/RepeatingBendingProcessNew"/>
    <dgm:cxn modelId="{7784D1E6-682A-4F3F-AAA5-C508ED15CCBB}" type="presOf" srcId="{8E28634B-42F4-4FA3-A029-A35E06800C72}" destId="{EC326542-D036-42DE-BCB7-FD5249131C0F}" srcOrd="0" destOrd="0" presId="urn:microsoft.com/office/officeart/2016/7/layout/RepeatingBendingProcessNew"/>
    <dgm:cxn modelId="{2DF5B0FD-9F66-4118-A943-535190AC6F20}" type="presOf" srcId="{EA549BDC-AC64-4F91-B6B3-9BAE56D3484F}" destId="{A5CF9793-CE8A-4FF0-A08F-29B58268A582}" srcOrd="0" destOrd="0" presId="urn:microsoft.com/office/officeart/2016/7/layout/RepeatingBendingProcessNew"/>
    <dgm:cxn modelId="{74875885-6B04-4634-8D32-A5B6CFF97A35}" type="presParOf" srcId="{A5CF9793-CE8A-4FF0-A08F-29B58268A582}" destId="{651C7F0B-8303-43B4-A389-32D22BBA7655}" srcOrd="0" destOrd="0" presId="urn:microsoft.com/office/officeart/2016/7/layout/RepeatingBendingProcessNew"/>
    <dgm:cxn modelId="{098FA78B-2089-4632-B1BB-EE1EB4B9B1A5}" type="presParOf" srcId="{A5CF9793-CE8A-4FF0-A08F-29B58268A582}" destId="{924D9A91-827A-4E9C-BE4C-F231C51D1EFF}" srcOrd="1" destOrd="0" presId="urn:microsoft.com/office/officeart/2016/7/layout/RepeatingBendingProcessNew"/>
    <dgm:cxn modelId="{10FD2E48-5000-4316-A7FA-114909DD36FA}" type="presParOf" srcId="{924D9A91-827A-4E9C-BE4C-F231C51D1EFF}" destId="{421158D9-6B03-4501-A1B0-7A51A544DED4}" srcOrd="0" destOrd="0" presId="urn:microsoft.com/office/officeart/2016/7/layout/RepeatingBendingProcessNew"/>
    <dgm:cxn modelId="{9591DDC5-C93E-4FB9-9D1A-01EB7A0946EB}" type="presParOf" srcId="{A5CF9793-CE8A-4FF0-A08F-29B58268A582}" destId="{A25313C9-5CE7-495E-86B7-66B2CB28E9D7}" srcOrd="2" destOrd="0" presId="urn:microsoft.com/office/officeart/2016/7/layout/RepeatingBendingProcessNew"/>
    <dgm:cxn modelId="{B5C04877-DE38-468D-833E-0748D62BB463}" type="presParOf" srcId="{A5CF9793-CE8A-4FF0-A08F-29B58268A582}" destId="{7036A471-5797-43B6-82C7-1226A8EE1F9A}" srcOrd="3" destOrd="0" presId="urn:microsoft.com/office/officeart/2016/7/layout/RepeatingBendingProcessNew"/>
    <dgm:cxn modelId="{10EA983E-7E6A-44C5-9D2A-E6FDB96E487D}" type="presParOf" srcId="{7036A471-5797-43B6-82C7-1226A8EE1F9A}" destId="{C3FCD9AA-2815-4DE2-87B7-C3F0EEE1FF14}" srcOrd="0" destOrd="0" presId="urn:microsoft.com/office/officeart/2016/7/layout/RepeatingBendingProcessNew"/>
    <dgm:cxn modelId="{8D764186-688A-47D8-843A-D9DB267C18FE}" type="presParOf" srcId="{A5CF9793-CE8A-4FF0-A08F-29B58268A582}" destId="{F008FBDA-E05F-472F-8D36-3D1AD5A6611A}" srcOrd="4" destOrd="0" presId="urn:microsoft.com/office/officeart/2016/7/layout/RepeatingBendingProcessNew"/>
    <dgm:cxn modelId="{1A4F41BD-18D3-4911-B3DE-4B0E824584CC}" type="presParOf" srcId="{A5CF9793-CE8A-4FF0-A08F-29B58268A582}" destId="{6F8A97A6-C693-4ADE-A5CA-C48F84918D4C}" srcOrd="5" destOrd="0" presId="urn:microsoft.com/office/officeart/2016/7/layout/RepeatingBendingProcessNew"/>
    <dgm:cxn modelId="{D97775C8-DCAA-4984-93EA-E0074188FBB4}" type="presParOf" srcId="{6F8A97A6-C693-4ADE-A5CA-C48F84918D4C}" destId="{138EFC5F-C969-4A77-ACC4-9A62F1F5D96E}" srcOrd="0" destOrd="0" presId="urn:microsoft.com/office/officeart/2016/7/layout/RepeatingBendingProcessNew"/>
    <dgm:cxn modelId="{267950D3-ECDA-4189-955C-F3FBDC11A12A}" type="presParOf" srcId="{A5CF9793-CE8A-4FF0-A08F-29B58268A582}" destId="{E019E506-3C1A-4FA2-B2AC-A4CC58662079}" srcOrd="6" destOrd="0" presId="urn:microsoft.com/office/officeart/2016/7/layout/RepeatingBendingProcessNew"/>
    <dgm:cxn modelId="{261DC339-78F4-4E64-8360-8C136EFA0220}" type="presParOf" srcId="{A5CF9793-CE8A-4FF0-A08F-29B58268A582}" destId="{EC326542-D036-42DE-BCB7-FD5249131C0F}" srcOrd="7" destOrd="0" presId="urn:microsoft.com/office/officeart/2016/7/layout/RepeatingBendingProcessNew"/>
    <dgm:cxn modelId="{6DB76D9E-2A5C-45E7-82C0-CC9472033F45}" type="presParOf" srcId="{EC326542-D036-42DE-BCB7-FD5249131C0F}" destId="{4BA4D36D-881D-4D10-9132-FDB11939BF6A}" srcOrd="0" destOrd="0" presId="urn:microsoft.com/office/officeart/2016/7/layout/RepeatingBendingProcessNew"/>
    <dgm:cxn modelId="{5CA0EE01-7D56-4534-8287-580EBCEA10E1}" type="presParOf" srcId="{A5CF9793-CE8A-4FF0-A08F-29B58268A582}" destId="{864DECC4-820A-49F8-921F-A1B5EA7A408C}" srcOrd="8" destOrd="0" presId="urn:microsoft.com/office/officeart/2016/7/layout/RepeatingBendingProcessNew"/>
    <dgm:cxn modelId="{2B1292CD-38D8-406D-981A-6782D627BFF1}" type="presParOf" srcId="{A5CF9793-CE8A-4FF0-A08F-29B58268A582}" destId="{3B11CD19-BC83-44E1-B7C5-C76FAE75EC9E}" srcOrd="9" destOrd="0" presId="urn:microsoft.com/office/officeart/2016/7/layout/RepeatingBendingProcessNew"/>
    <dgm:cxn modelId="{D0D231E6-C33B-41DE-A74C-277B08A5C75A}" type="presParOf" srcId="{3B11CD19-BC83-44E1-B7C5-C76FAE75EC9E}" destId="{48D92AB9-E47C-4B47-8F16-DD41DBDB2B5F}" srcOrd="0" destOrd="0" presId="urn:microsoft.com/office/officeart/2016/7/layout/RepeatingBendingProcessNew"/>
    <dgm:cxn modelId="{BE93EE46-0297-494C-ABCF-8706F282F700}" type="presParOf" srcId="{A5CF9793-CE8A-4FF0-A08F-29B58268A582}" destId="{865BFB7D-8411-4C7C-A7CE-9A97D8B9CEB7}" srcOrd="10" destOrd="0" presId="urn:microsoft.com/office/officeart/2016/7/layout/RepeatingBendingProcessNew"/>
    <dgm:cxn modelId="{9DFC4E80-A2CA-4AAE-965E-339B903DC151}" type="presParOf" srcId="{A5CF9793-CE8A-4FF0-A08F-29B58268A582}" destId="{E2FE0675-7CF6-4791-8168-F83DB09E4526}" srcOrd="11" destOrd="0" presId="urn:microsoft.com/office/officeart/2016/7/layout/RepeatingBendingProcessNew"/>
    <dgm:cxn modelId="{D5A0060C-184D-4B74-B18E-13252B28A0DD}" type="presParOf" srcId="{E2FE0675-7CF6-4791-8168-F83DB09E4526}" destId="{8290AACF-7906-4CBC-9DE6-5DAF52A24973}" srcOrd="0" destOrd="0" presId="urn:microsoft.com/office/officeart/2016/7/layout/RepeatingBendingProcessNew"/>
    <dgm:cxn modelId="{497645DD-6E0E-4D8C-BF44-8B879E165740}" type="presParOf" srcId="{A5CF9793-CE8A-4FF0-A08F-29B58268A582}" destId="{FD55AD58-78AE-4550-9E58-52666EB9B2BC}" srcOrd="12" destOrd="0" presId="urn:microsoft.com/office/officeart/2016/7/layout/RepeatingBendingProcessNew"/>
    <dgm:cxn modelId="{DA026DDA-140D-4948-881F-CC9248C1214D}" type="presParOf" srcId="{A5CF9793-CE8A-4FF0-A08F-29B58268A582}" destId="{947ECD2D-7F9A-42FF-9FBA-2CDE3A03AABC}" srcOrd="13" destOrd="0" presId="urn:microsoft.com/office/officeart/2016/7/layout/RepeatingBendingProcessNew"/>
    <dgm:cxn modelId="{68488A49-201F-4746-A0D6-B4C616217FC4}" type="presParOf" srcId="{947ECD2D-7F9A-42FF-9FBA-2CDE3A03AABC}" destId="{C25B0CEA-2F13-4E35-A3ED-09CDA95DAB13}" srcOrd="0" destOrd="0" presId="urn:microsoft.com/office/officeart/2016/7/layout/RepeatingBendingProcessNew"/>
    <dgm:cxn modelId="{07225AE7-224E-4006-B785-82807FBB1115}" type="presParOf" srcId="{A5CF9793-CE8A-4FF0-A08F-29B58268A582}" destId="{298B8567-69B7-4E7D-A75A-D4BD83DAEC23}" srcOrd="14" destOrd="0" presId="urn:microsoft.com/office/officeart/2016/7/layout/RepeatingBendingProcessNew"/>
    <dgm:cxn modelId="{274277B0-0F9A-4265-B73C-DDB92195705B}" type="presParOf" srcId="{A5CF9793-CE8A-4FF0-A08F-29B58268A582}" destId="{C456CEB1-0B15-4793-8CA3-2C8D67CBFB7F}" srcOrd="15" destOrd="0" presId="urn:microsoft.com/office/officeart/2016/7/layout/RepeatingBendingProcessNew"/>
    <dgm:cxn modelId="{75791C10-74BC-4E6E-AB43-1F1B325AB23E}" type="presParOf" srcId="{C456CEB1-0B15-4793-8CA3-2C8D67CBFB7F}" destId="{83E966F6-B66C-452A-9F39-BBF14F1F5D2A}" srcOrd="0" destOrd="0" presId="urn:microsoft.com/office/officeart/2016/7/layout/RepeatingBendingProcessNew"/>
    <dgm:cxn modelId="{3355C689-E3F0-4414-B6A5-F15D0D021547}" type="presParOf" srcId="{A5CF9793-CE8A-4FF0-A08F-29B58268A582}" destId="{45408BA8-1233-423C-8E5A-461321C1A5D5}" srcOrd="1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3D6DD34-3015-4C65-AE1B-96E9DD65CE19}" type="doc">
      <dgm:prSet loTypeId="urn:microsoft.com/office/officeart/2005/8/layout/bProcess4" loCatId="process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A2BBB1E-E226-4FE6-A4F5-5515C1C8BDE4}">
      <dgm:prSet/>
      <dgm:spPr/>
      <dgm:t>
        <a:bodyPr/>
        <a:lstStyle/>
        <a:p>
          <a:r>
            <a:rPr lang="en-GB"/>
            <a:t>Predictive modeling improves donor targeting </a:t>
          </a:r>
          <a:r>
            <a:rPr lang="en-GB" b="1"/>
            <a:t>dramatically</a:t>
          </a:r>
          <a:r>
            <a:rPr lang="en-GB"/>
            <a:t>.</a:t>
          </a:r>
          <a:endParaRPr lang="en-US"/>
        </a:p>
      </dgm:t>
    </dgm:pt>
    <dgm:pt modelId="{EF3670FF-659B-426B-8295-FC1E7D4330D2}" type="parTrans" cxnId="{C4E5B1B9-1D61-4A8D-BEBA-6BF3E0A67E87}">
      <dgm:prSet/>
      <dgm:spPr/>
      <dgm:t>
        <a:bodyPr/>
        <a:lstStyle/>
        <a:p>
          <a:endParaRPr lang="en-US"/>
        </a:p>
      </dgm:t>
    </dgm:pt>
    <dgm:pt modelId="{5C996B24-092B-4B4E-95DA-1E51C18F8CC0}" type="sibTrans" cxnId="{C4E5B1B9-1D61-4A8D-BEBA-6BF3E0A67E87}">
      <dgm:prSet/>
      <dgm:spPr/>
      <dgm:t>
        <a:bodyPr/>
        <a:lstStyle/>
        <a:p>
          <a:endParaRPr lang="en-US"/>
        </a:p>
      </dgm:t>
    </dgm:pt>
    <dgm:pt modelId="{5F2671D4-75C5-4398-B1BA-A8666082D02B}">
      <dgm:prSet/>
      <dgm:spPr/>
      <dgm:t>
        <a:bodyPr/>
        <a:lstStyle/>
        <a:p>
          <a:r>
            <a:rPr lang="en-GB"/>
            <a:t>Mailing only the highest-probability donors maximizes ROI.</a:t>
          </a:r>
          <a:endParaRPr lang="en-US"/>
        </a:p>
      </dgm:t>
    </dgm:pt>
    <dgm:pt modelId="{8EF6EA37-E5E9-4689-BC40-E5AC3AE61E10}" type="parTrans" cxnId="{263AB3C9-5148-48D0-B6DD-4F1C4CD11061}">
      <dgm:prSet/>
      <dgm:spPr/>
      <dgm:t>
        <a:bodyPr/>
        <a:lstStyle/>
        <a:p>
          <a:endParaRPr lang="en-US"/>
        </a:p>
      </dgm:t>
    </dgm:pt>
    <dgm:pt modelId="{3D6D847A-A1E9-43B7-A8E8-90A470167638}" type="sibTrans" cxnId="{263AB3C9-5148-48D0-B6DD-4F1C4CD11061}">
      <dgm:prSet/>
      <dgm:spPr/>
      <dgm:t>
        <a:bodyPr/>
        <a:lstStyle/>
        <a:p>
          <a:endParaRPr lang="en-US"/>
        </a:p>
      </dgm:t>
    </dgm:pt>
    <dgm:pt modelId="{10DC7404-0B91-4115-92F4-07B49544E9AC}">
      <dgm:prSet/>
      <dgm:spPr/>
      <dgm:t>
        <a:bodyPr/>
        <a:lstStyle/>
        <a:p>
          <a:r>
            <a:rPr lang="en-GB"/>
            <a:t>Gradient Boosting provides the best balance of accuracy and cost savings.</a:t>
          </a:r>
          <a:endParaRPr lang="en-US"/>
        </a:p>
      </dgm:t>
    </dgm:pt>
    <dgm:pt modelId="{8DE17093-21D9-44E3-BB31-D82EBDD13A86}" type="parTrans" cxnId="{E7920382-B940-4624-B99B-AAD06F2BB441}">
      <dgm:prSet/>
      <dgm:spPr/>
      <dgm:t>
        <a:bodyPr/>
        <a:lstStyle/>
        <a:p>
          <a:endParaRPr lang="en-US"/>
        </a:p>
      </dgm:t>
    </dgm:pt>
    <dgm:pt modelId="{4734F498-EFA9-4E46-8AB2-11C3A5001A27}" type="sibTrans" cxnId="{E7920382-B940-4624-B99B-AAD06F2BB441}">
      <dgm:prSet/>
      <dgm:spPr/>
      <dgm:t>
        <a:bodyPr/>
        <a:lstStyle/>
        <a:p>
          <a:endParaRPr lang="en-US"/>
        </a:p>
      </dgm:t>
    </dgm:pt>
    <dgm:pt modelId="{56FB01AB-D456-44B0-AC5F-5E36341B2015}">
      <dgm:prSet/>
      <dgm:spPr/>
      <dgm:t>
        <a:bodyPr/>
        <a:lstStyle/>
        <a:p>
          <a:r>
            <a:rPr lang="en-GB"/>
            <a:t>Implementing this approach can </a:t>
          </a:r>
          <a:r>
            <a:rPr lang="en-GB" b="1"/>
            <a:t>increase profit</a:t>
          </a:r>
          <a:r>
            <a:rPr lang="en-GB"/>
            <a:t>, </a:t>
          </a:r>
          <a:r>
            <a:rPr lang="en-GB" b="1"/>
            <a:t>reduce costs</a:t>
          </a:r>
          <a:r>
            <a:rPr lang="en-GB"/>
            <a:t>, and </a:t>
          </a:r>
          <a:r>
            <a:rPr lang="en-GB" b="1"/>
            <a:t>focus outreach</a:t>
          </a:r>
          <a:r>
            <a:rPr lang="en-GB"/>
            <a:t> on donors most likely to give.</a:t>
          </a:r>
          <a:endParaRPr lang="en-US"/>
        </a:p>
      </dgm:t>
    </dgm:pt>
    <dgm:pt modelId="{DB711D8E-517D-47E6-85E4-9BC20781B071}" type="parTrans" cxnId="{5636A935-E31D-484F-B84C-43A79C491D45}">
      <dgm:prSet/>
      <dgm:spPr/>
      <dgm:t>
        <a:bodyPr/>
        <a:lstStyle/>
        <a:p>
          <a:endParaRPr lang="en-US"/>
        </a:p>
      </dgm:t>
    </dgm:pt>
    <dgm:pt modelId="{0402DB10-9759-4075-BF02-71A9A006CC1E}" type="sibTrans" cxnId="{5636A935-E31D-484F-B84C-43A79C491D45}">
      <dgm:prSet/>
      <dgm:spPr/>
      <dgm:t>
        <a:bodyPr/>
        <a:lstStyle/>
        <a:p>
          <a:endParaRPr lang="en-US"/>
        </a:p>
      </dgm:t>
    </dgm:pt>
    <dgm:pt modelId="{40A129EE-7B69-4B71-9E7C-025075CF2346}">
      <dgm:prSet/>
      <dgm:spPr/>
      <dgm:t>
        <a:bodyPr/>
        <a:lstStyle/>
        <a:p>
          <a:r>
            <a:rPr lang="en-GB" b="1"/>
            <a:t>Next Steps</a:t>
          </a:r>
          <a:endParaRPr lang="en-US"/>
        </a:p>
      </dgm:t>
    </dgm:pt>
    <dgm:pt modelId="{816A9887-7E64-42BC-ABAB-D6950DDBD770}" type="parTrans" cxnId="{8389C17D-F456-4B72-8AE5-7839B9D4A8A2}">
      <dgm:prSet/>
      <dgm:spPr/>
      <dgm:t>
        <a:bodyPr/>
        <a:lstStyle/>
        <a:p>
          <a:endParaRPr lang="en-US"/>
        </a:p>
      </dgm:t>
    </dgm:pt>
    <dgm:pt modelId="{47953C82-407F-4DE8-8210-C6874FAE6BC9}" type="sibTrans" cxnId="{8389C17D-F456-4B72-8AE5-7839B9D4A8A2}">
      <dgm:prSet/>
      <dgm:spPr/>
      <dgm:t>
        <a:bodyPr/>
        <a:lstStyle/>
        <a:p>
          <a:endParaRPr lang="en-US"/>
        </a:p>
      </dgm:t>
    </dgm:pt>
    <dgm:pt modelId="{BA1182CC-B4FF-463F-A5F9-79977895CC1C}">
      <dgm:prSet/>
      <dgm:spPr/>
      <dgm:t>
        <a:bodyPr/>
        <a:lstStyle/>
        <a:p>
          <a:r>
            <a:rPr lang="en-GB"/>
            <a:t>Deploy the scoring pipeline</a:t>
          </a:r>
          <a:endParaRPr lang="en-US"/>
        </a:p>
      </dgm:t>
    </dgm:pt>
    <dgm:pt modelId="{8AD946E7-8E9C-456B-A3A3-3FF0374B2201}" type="parTrans" cxnId="{21B8DE62-0AAB-446B-84F1-82C8710CE480}">
      <dgm:prSet/>
      <dgm:spPr/>
      <dgm:t>
        <a:bodyPr/>
        <a:lstStyle/>
        <a:p>
          <a:endParaRPr lang="en-US"/>
        </a:p>
      </dgm:t>
    </dgm:pt>
    <dgm:pt modelId="{125A7759-2991-4630-826E-84431C2080A5}" type="sibTrans" cxnId="{21B8DE62-0AAB-446B-84F1-82C8710CE480}">
      <dgm:prSet/>
      <dgm:spPr/>
      <dgm:t>
        <a:bodyPr/>
        <a:lstStyle/>
        <a:p>
          <a:endParaRPr lang="en-US"/>
        </a:p>
      </dgm:t>
    </dgm:pt>
    <dgm:pt modelId="{6CAF3CEF-3753-48BF-A5E0-0EB4DA97577D}">
      <dgm:prSet/>
      <dgm:spPr/>
      <dgm:t>
        <a:bodyPr/>
        <a:lstStyle/>
        <a:p>
          <a:r>
            <a:rPr lang="en-GB"/>
            <a:t>Integrate into donor-mailing system</a:t>
          </a:r>
          <a:endParaRPr lang="en-US"/>
        </a:p>
      </dgm:t>
    </dgm:pt>
    <dgm:pt modelId="{56F1BF81-F77A-4B21-BD91-76E5E63F1632}" type="parTrans" cxnId="{CCB4A4F8-C08D-4CFF-A70E-4B47B37F2BE0}">
      <dgm:prSet/>
      <dgm:spPr/>
      <dgm:t>
        <a:bodyPr/>
        <a:lstStyle/>
        <a:p>
          <a:endParaRPr lang="en-US"/>
        </a:p>
      </dgm:t>
    </dgm:pt>
    <dgm:pt modelId="{84C5941C-74C1-479C-8811-C047119D6BFE}" type="sibTrans" cxnId="{CCB4A4F8-C08D-4CFF-A70E-4B47B37F2BE0}">
      <dgm:prSet/>
      <dgm:spPr/>
      <dgm:t>
        <a:bodyPr/>
        <a:lstStyle/>
        <a:p>
          <a:endParaRPr lang="en-US"/>
        </a:p>
      </dgm:t>
    </dgm:pt>
    <dgm:pt modelId="{2D87D204-49E6-4509-A25F-4CDF101BF584}">
      <dgm:prSet/>
      <dgm:spPr/>
      <dgm:t>
        <a:bodyPr/>
        <a:lstStyle/>
        <a:p>
          <a:r>
            <a:rPr lang="en-GB"/>
            <a:t>Monitor model performance quarterly</a:t>
          </a:r>
          <a:endParaRPr lang="en-US"/>
        </a:p>
      </dgm:t>
    </dgm:pt>
    <dgm:pt modelId="{9E4F63E2-D259-4364-8045-043AD46935B2}" type="parTrans" cxnId="{ADBB8F5B-A59D-40B6-B69E-8B83A102BACF}">
      <dgm:prSet/>
      <dgm:spPr/>
      <dgm:t>
        <a:bodyPr/>
        <a:lstStyle/>
        <a:p>
          <a:endParaRPr lang="en-US"/>
        </a:p>
      </dgm:t>
    </dgm:pt>
    <dgm:pt modelId="{13882EA0-1094-44C1-A7C8-48CA34E5D19A}" type="sibTrans" cxnId="{ADBB8F5B-A59D-40B6-B69E-8B83A102BACF}">
      <dgm:prSet/>
      <dgm:spPr/>
      <dgm:t>
        <a:bodyPr/>
        <a:lstStyle/>
        <a:p>
          <a:endParaRPr lang="en-US"/>
        </a:p>
      </dgm:t>
    </dgm:pt>
    <dgm:pt modelId="{C7B68756-EE8A-4EB0-A79F-ABD946B560AD}">
      <dgm:prSet/>
      <dgm:spPr/>
      <dgm:t>
        <a:bodyPr/>
        <a:lstStyle/>
        <a:p>
          <a:r>
            <a:rPr lang="en-GB"/>
            <a:t>Run A/B tests to measure impact</a:t>
          </a:r>
          <a:endParaRPr lang="en-US"/>
        </a:p>
      </dgm:t>
    </dgm:pt>
    <dgm:pt modelId="{A8F4C9B2-6614-4019-A3D8-1BB01907C491}" type="parTrans" cxnId="{FE2B572F-EF5F-4EF1-9EE5-E312645E1A51}">
      <dgm:prSet/>
      <dgm:spPr/>
      <dgm:t>
        <a:bodyPr/>
        <a:lstStyle/>
        <a:p>
          <a:endParaRPr lang="en-US"/>
        </a:p>
      </dgm:t>
    </dgm:pt>
    <dgm:pt modelId="{A731B734-A5D6-405F-AEBD-C1D169554110}" type="sibTrans" cxnId="{FE2B572F-EF5F-4EF1-9EE5-E312645E1A51}">
      <dgm:prSet/>
      <dgm:spPr/>
      <dgm:t>
        <a:bodyPr/>
        <a:lstStyle/>
        <a:p>
          <a:endParaRPr lang="en-US"/>
        </a:p>
      </dgm:t>
    </dgm:pt>
    <dgm:pt modelId="{B65E9456-75CE-4E81-B2CD-91BFFB79775B}" type="pres">
      <dgm:prSet presAssocID="{E3D6DD34-3015-4C65-AE1B-96E9DD65CE19}" presName="Name0" presStyleCnt="0">
        <dgm:presLayoutVars>
          <dgm:dir/>
          <dgm:resizeHandles/>
        </dgm:presLayoutVars>
      </dgm:prSet>
      <dgm:spPr/>
    </dgm:pt>
    <dgm:pt modelId="{47959D27-A3B7-4643-AABC-7EBB74DC413B}" type="pres">
      <dgm:prSet presAssocID="{2A2BBB1E-E226-4FE6-A4F5-5515C1C8BDE4}" presName="compNode" presStyleCnt="0"/>
      <dgm:spPr/>
    </dgm:pt>
    <dgm:pt modelId="{CE55F43C-53C0-4252-868A-0A66349AE8C5}" type="pres">
      <dgm:prSet presAssocID="{2A2BBB1E-E226-4FE6-A4F5-5515C1C8BDE4}" presName="dummyConnPt" presStyleCnt="0"/>
      <dgm:spPr/>
    </dgm:pt>
    <dgm:pt modelId="{FC6ED36A-649D-4AB5-81A4-12794783AD2C}" type="pres">
      <dgm:prSet presAssocID="{2A2BBB1E-E226-4FE6-A4F5-5515C1C8BDE4}" presName="node" presStyleLbl="node1" presStyleIdx="0" presStyleCnt="9">
        <dgm:presLayoutVars>
          <dgm:bulletEnabled val="1"/>
        </dgm:presLayoutVars>
      </dgm:prSet>
      <dgm:spPr/>
    </dgm:pt>
    <dgm:pt modelId="{AA5B1D86-AFCB-4ED8-A758-69BE7DA043D0}" type="pres">
      <dgm:prSet presAssocID="{5C996B24-092B-4B4E-95DA-1E51C18F8CC0}" presName="sibTrans" presStyleLbl="bgSibTrans2D1" presStyleIdx="0" presStyleCnt="8"/>
      <dgm:spPr/>
    </dgm:pt>
    <dgm:pt modelId="{F282A298-3504-4F50-8B01-D6DAE051A6DD}" type="pres">
      <dgm:prSet presAssocID="{5F2671D4-75C5-4398-B1BA-A8666082D02B}" presName="compNode" presStyleCnt="0"/>
      <dgm:spPr/>
    </dgm:pt>
    <dgm:pt modelId="{49A3092E-4B76-4704-82FD-C9717E98A005}" type="pres">
      <dgm:prSet presAssocID="{5F2671D4-75C5-4398-B1BA-A8666082D02B}" presName="dummyConnPt" presStyleCnt="0"/>
      <dgm:spPr/>
    </dgm:pt>
    <dgm:pt modelId="{EB5C06A7-3539-405A-A8CE-FF95F7831CF6}" type="pres">
      <dgm:prSet presAssocID="{5F2671D4-75C5-4398-B1BA-A8666082D02B}" presName="node" presStyleLbl="node1" presStyleIdx="1" presStyleCnt="9">
        <dgm:presLayoutVars>
          <dgm:bulletEnabled val="1"/>
        </dgm:presLayoutVars>
      </dgm:prSet>
      <dgm:spPr/>
    </dgm:pt>
    <dgm:pt modelId="{584E6E0F-7010-4F94-B2A0-4E890CDD3C39}" type="pres">
      <dgm:prSet presAssocID="{3D6D847A-A1E9-43B7-A8E8-90A470167638}" presName="sibTrans" presStyleLbl="bgSibTrans2D1" presStyleIdx="1" presStyleCnt="8"/>
      <dgm:spPr/>
    </dgm:pt>
    <dgm:pt modelId="{917F5D31-8AE8-4649-A719-05920994A3A2}" type="pres">
      <dgm:prSet presAssocID="{10DC7404-0B91-4115-92F4-07B49544E9AC}" presName="compNode" presStyleCnt="0"/>
      <dgm:spPr/>
    </dgm:pt>
    <dgm:pt modelId="{48CD8461-D650-4C5C-8057-F36F77FD0526}" type="pres">
      <dgm:prSet presAssocID="{10DC7404-0B91-4115-92F4-07B49544E9AC}" presName="dummyConnPt" presStyleCnt="0"/>
      <dgm:spPr/>
    </dgm:pt>
    <dgm:pt modelId="{E8FF7DD7-B122-4AF7-BBB0-C73DB57CEE8B}" type="pres">
      <dgm:prSet presAssocID="{10DC7404-0B91-4115-92F4-07B49544E9AC}" presName="node" presStyleLbl="node1" presStyleIdx="2" presStyleCnt="9">
        <dgm:presLayoutVars>
          <dgm:bulletEnabled val="1"/>
        </dgm:presLayoutVars>
      </dgm:prSet>
      <dgm:spPr/>
    </dgm:pt>
    <dgm:pt modelId="{8B26D992-1E5C-495A-A7DF-6A71C51BCD56}" type="pres">
      <dgm:prSet presAssocID="{4734F498-EFA9-4E46-8AB2-11C3A5001A27}" presName="sibTrans" presStyleLbl="bgSibTrans2D1" presStyleIdx="2" presStyleCnt="8"/>
      <dgm:spPr/>
    </dgm:pt>
    <dgm:pt modelId="{F9EC2FE5-AF56-4659-9534-B19B3E54E084}" type="pres">
      <dgm:prSet presAssocID="{56FB01AB-D456-44B0-AC5F-5E36341B2015}" presName="compNode" presStyleCnt="0"/>
      <dgm:spPr/>
    </dgm:pt>
    <dgm:pt modelId="{B3CE7678-6B17-40D4-AA0D-9B7ECC39D283}" type="pres">
      <dgm:prSet presAssocID="{56FB01AB-D456-44B0-AC5F-5E36341B2015}" presName="dummyConnPt" presStyleCnt="0"/>
      <dgm:spPr/>
    </dgm:pt>
    <dgm:pt modelId="{22E11A14-02AD-4938-9DA9-B5C5DBDAD83E}" type="pres">
      <dgm:prSet presAssocID="{56FB01AB-D456-44B0-AC5F-5E36341B2015}" presName="node" presStyleLbl="node1" presStyleIdx="3" presStyleCnt="9">
        <dgm:presLayoutVars>
          <dgm:bulletEnabled val="1"/>
        </dgm:presLayoutVars>
      </dgm:prSet>
      <dgm:spPr/>
    </dgm:pt>
    <dgm:pt modelId="{CF64A940-71D9-4613-8913-DA034ECAAA6F}" type="pres">
      <dgm:prSet presAssocID="{0402DB10-9759-4075-BF02-71A9A006CC1E}" presName="sibTrans" presStyleLbl="bgSibTrans2D1" presStyleIdx="3" presStyleCnt="8"/>
      <dgm:spPr/>
    </dgm:pt>
    <dgm:pt modelId="{22BD358E-E539-444F-8920-DE8D57BD7167}" type="pres">
      <dgm:prSet presAssocID="{40A129EE-7B69-4B71-9E7C-025075CF2346}" presName="compNode" presStyleCnt="0"/>
      <dgm:spPr/>
    </dgm:pt>
    <dgm:pt modelId="{369CA02F-90CC-4C00-B1A9-B46A90C5E7D3}" type="pres">
      <dgm:prSet presAssocID="{40A129EE-7B69-4B71-9E7C-025075CF2346}" presName="dummyConnPt" presStyleCnt="0"/>
      <dgm:spPr/>
    </dgm:pt>
    <dgm:pt modelId="{65B9F507-D676-4E9C-83A2-1997ECDEEF40}" type="pres">
      <dgm:prSet presAssocID="{40A129EE-7B69-4B71-9E7C-025075CF2346}" presName="node" presStyleLbl="node1" presStyleIdx="4" presStyleCnt="9">
        <dgm:presLayoutVars>
          <dgm:bulletEnabled val="1"/>
        </dgm:presLayoutVars>
      </dgm:prSet>
      <dgm:spPr/>
    </dgm:pt>
    <dgm:pt modelId="{0AACDE55-B531-4F71-BE66-2207E26BFBB2}" type="pres">
      <dgm:prSet presAssocID="{47953C82-407F-4DE8-8210-C6874FAE6BC9}" presName="sibTrans" presStyleLbl="bgSibTrans2D1" presStyleIdx="4" presStyleCnt="8"/>
      <dgm:spPr/>
    </dgm:pt>
    <dgm:pt modelId="{9A48D556-C758-495B-830B-ADE7851E7CE0}" type="pres">
      <dgm:prSet presAssocID="{BA1182CC-B4FF-463F-A5F9-79977895CC1C}" presName="compNode" presStyleCnt="0"/>
      <dgm:spPr/>
    </dgm:pt>
    <dgm:pt modelId="{52306464-2482-492D-AA3F-31FED3A01966}" type="pres">
      <dgm:prSet presAssocID="{BA1182CC-B4FF-463F-A5F9-79977895CC1C}" presName="dummyConnPt" presStyleCnt="0"/>
      <dgm:spPr/>
    </dgm:pt>
    <dgm:pt modelId="{AE19C89D-229D-41F7-ADB2-C1DF3010B7FA}" type="pres">
      <dgm:prSet presAssocID="{BA1182CC-B4FF-463F-A5F9-79977895CC1C}" presName="node" presStyleLbl="node1" presStyleIdx="5" presStyleCnt="9">
        <dgm:presLayoutVars>
          <dgm:bulletEnabled val="1"/>
        </dgm:presLayoutVars>
      </dgm:prSet>
      <dgm:spPr/>
    </dgm:pt>
    <dgm:pt modelId="{01A813B6-D3EE-4F8E-A86D-E2735BED4A3D}" type="pres">
      <dgm:prSet presAssocID="{125A7759-2991-4630-826E-84431C2080A5}" presName="sibTrans" presStyleLbl="bgSibTrans2D1" presStyleIdx="5" presStyleCnt="8"/>
      <dgm:spPr/>
    </dgm:pt>
    <dgm:pt modelId="{BB5DF7E9-FFE1-4C78-B387-1C3798994DCF}" type="pres">
      <dgm:prSet presAssocID="{6CAF3CEF-3753-48BF-A5E0-0EB4DA97577D}" presName="compNode" presStyleCnt="0"/>
      <dgm:spPr/>
    </dgm:pt>
    <dgm:pt modelId="{8E8BAAC0-0FB1-4E0C-96A8-852D79FBDBA5}" type="pres">
      <dgm:prSet presAssocID="{6CAF3CEF-3753-48BF-A5E0-0EB4DA97577D}" presName="dummyConnPt" presStyleCnt="0"/>
      <dgm:spPr/>
    </dgm:pt>
    <dgm:pt modelId="{F2E1A53D-6277-4052-919D-578A33A4BEE6}" type="pres">
      <dgm:prSet presAssocID="{6CAF3CEF-3753-48BF-A5E0-0EB4DA97577D}" presName="node" presStyleLbl="node1" presStyleIdx="6" presStyleCnt="9">
        <dgm:presLayoutVars>
          <dgm:bulletEnabled val="1"/>
        </dgm:presLayoutVars>
      </dgm:prSet>
      <dgm:spPr/>
    </dgm:pt>
    <dgm:pt modelId="{C8837FA2-D11D-48E4-9DBC-7CA06075AA19}" type="pres">
      <dgm:prSet presAssocID="{84C5941C-74C1-479C-8811-C047119D6BFE}" presName="sibTrans" presStyleLbl="bgSibTrans2D1" presStyleIdx="6" presStyleCnt="8"/>
      <dgm:spPr/>
    </dgm:pt>
    <dgm:pt modelId="{70025D6C-AC53-43BE-88E0-080A8730E98D}" type="pres">
      <dgm:prSet presAssocID="{2D87D204-49E6-4509-A25F-4CDF101BF584}" presName="compNode" presStyleCnt="0"/>
      <dgm:spPr/>
    </dgm:pt>
    <dgm:pt modelId="{0AEA747A-CFEC-4912-9E03-2827703764FF}" type="pres">
      <dgm:prSet presAssocID="{2D87D204-49E6-4509-A25F-4CDF101BF584}" presName="dummyConnPt" presStyleCnt="0"/>
      <dgm:spPr/>
    </dgm:pt>
    <dgm:pt modelId="{FEA15D59-4B3B-43D8-9314-6D6792116954}" type="pres">
      <dgm:prSet presAssocID="{2D87D204-49E6-4509-A25F-4CDF101BF584}" presName="node" presStyleLbl="node1" presStyleIdx="7" presStyleCnt="9">
        <dgm:presLayoutVars>
          <dgm:bulletEnabled val="1"/>
        </dgm:presLayoutVars>
      </dgm:prSet>
      <dgm:spPr/>
    </dgm:pt>
    <dgm:pt modelId="{62271EA5-154E-49FD-B671-BF2BB5280BF5}" type="pres">
      <dgm:prSet presAssocID="{13882EA0-1094-44C1-A7C8-48CA34E5D19A}" presName="sibTrans" presStyleLbl="bgSibTrans2D1" presStyleIdx="7" presStyleCnt="8"/>
      <dgm:spPr/>
    </dgm:pt>
    <dgm:pt modelId="{F05319AC-43BE-4359-A758-8DBC4EAC72B9}" type="pres">
      <dgm:prSet presAssocID="{C7B68756-EE8A-4EB0-A79F-ABD946B560AD}" presName="compNode" presStyleCnt="0"/>
      <dgm:spPr/>
    </dgm:pt>
    <dgm:pt modelId="{A25C873B-DF26-4230-908E-D3966F9B0179}" type="pres">
      <dgm:prSet presAssocID="{C7B68756-EE8A-4EB0-A79F-ABD946B560AD}" presName="dummyConnPt" presStyleCnt="0"/>
      <dgm:spPr/>
    </dgm:pt>
    <dgm:pt modelId="{8E471604-B3AF-44ED-8BC6-F792C2001C84}" type="pres">
      <dgm:prSet presAssocID="{C7B68756-EE8A-4EB0-A79F-ABD946B560AD}" presName="node" presStyleLbl="node1" presStyleIdx="8" presStyleCnt="9">
        <dgm:presLayoutVars>
          <dgm:bulletEnabled val="1"/>
        </dgm:presLayoutVars>
      </dgm:prSet>
      <dgm:spPr/>
    </dgm:pt>
  </dgm:ptLst>
  <dgm:cxnLst>
    <dgm:cxn modelId="{97693305-03EA-4FA0-ABBB-8092A6AC3F76}" type="presOf" srcId="{3D6D847A-A1E9-43B7-A8E8-90A470167638}" destId="{584E6E0F-7010-4F94-B2A0-4E890CDD3C39}" srcOrd="0" destOrd="0" presId="urn:microsoft.com/office/officeart/2005/8/layout/bProcess4"/>
    <dgm:cxn modelId="{44FF020B-D920-485C-BB3F-335F3ADC0942}" type="presOf" srcId="{E3D6DD34-3015-4C65-AE1B-96E9DD65CE19}" destId="{B65E9456-75CE-4E81-B2CD-91BFFB79775B}" srcOrd="0" destOrd="0" presId="urn:microsoft.com/office/officeart/2005/8/layout/bProcess4"/>
    <dgm:cxn modelId="{FC5CC510-ACBD-44DC-AB60-6C38965ED308}" type="presOf" srcId="{C7B68756-EE8A-4EB0-A79F-ABD946B560AD}" destId="{8E471604-B3AF-44ED-8BC6-F792C2001C84}" srcOrd="0" destOrd="0" presId="urn:microsoft.com/office/officeart/2005/8/layout/bProcess4"/>
    <dgm:cxn modelId="{F5494116-B9B0-4C5C-9971-D4FE265C21D8}" type="presOf" srcId="{84C5941C-74C1-479C-8811-C047119D6BFE}" destId="{C8837FA2-D11D-48E4-9DBC-7CA06075AA19}" srcOrd="0" destOrd="0" presId="urn:microsoft.com/office/officeart/2005/8/layout/bProcess4"/>
    <dgm:cxn modelId="{4BBC7D1F-B9FF-4D17-BF73-13EE00773558}" type="presOf" srcId="{5C996B24-092B-4B4E-95DA-1E51C18F8CC0}" destId="{AA5B1D86-AFCB-4ED8-A758-69BE7DA043D0}" srcOrd="0" destOrd="0" presId="urn:microsoft.com/office/officeart/2005/8/layout/bProcess4"/>
    <dgm:cxn modelId="{90952C28-09D7-4FEF-9DB8-B9D528E2BD1B}" type="presOf" srcId="{13882EA0-1094-44C1-A7C8-48CA34E5D19A}" destId="{62271EA5-154E-49FD-B671-BF2BB5280BF5}" srcOrd="0" destOrd="0" presId="urn:microsoft.com/office/officeart/2005/8/layout/bProcess4"/>
    <dgm:cxn modelId="{FE2B572F-EF5F-4EF1-9EE5-E312645E1A51}" srcId="{E3D6DD34-3015-4C65-AE1B-96E9DD65CE19}" destId="{C7B68756-EE8A-4EB0-A79F-ABD946B560AD}" srcOrd="8" destOrd="0" parTransId="{A8F4C9B2-6614-4019-A3D8-1BB01907C491}" sibTransId="{A731B734-A5D6-405F-AEBD-C1D169554110}"/>
    <dgm:cxn modelId="{5636A935-E31D-484F-B84C-43A79C491D45}" srcId="{E3D6DD34-3015-4C65-AE1B-96E9DD65CE19}" destId="{56FB01AB-D456-44B0-AC5F-5E36341B2015}" srcOrd="3" destOrd="0" parTransId="{DB711D8E-517D-47E6-85E4-9BC20781B071}" sibTransId="{0402DB10-9759-4075-BF02-71A9A006CC1E}"/>
    <dgm:cxn modelId="{ADBB8F5B-A59D-40B6-B69E-8B83A102BACF}" srcId="{E3D6DD34-3015-4C65-AE1B-96E9DD65CE19}" destId="{2D87D204-49E6-4509-A25F-4CDF101BF584}" srcOrd="7" destOrd="0" parTransId="{9E4F63E2-D259-4364-8045-043AD46935B2}" sibTransId="{13882EA0-1094-44C1-A7C8-48CA34E5D19A}"/>
    <dgm:cxn modelId="{EA6BEC5F-A1A8-4710-8882-72564BD5A28C}" type="presOf" srcId="{40A129EE-7B69-4B71-9E7C-025075CF2346}" destId="{65B9F507-D676-4E9C-83A2-1997ECDEEF40}" srcOrd="0" destOrd="0" presId="urn:microsoft.com/office/officeart/2005/8/layout/bProcess4"/>
    <dgm:cxn modelId="{F88B6442-60CD-4A04-ADD9-A332463C9579}" type="presOf" srcId="{2A2BBB1E-E226-4FE6-A4F5-5515C1C8BDE4}" destId="{FC6ED36A-649D-4AB5-81A4-12794783AD2C}" srcOrd="0" destOrd="0" presId="urn:microsoft.com/office/officeart/2005/8/layout/bProcess4"/>
    <dgm:cxn modelId="{21B8DE62-0AAB-446B-84F1-82C8710CE480}" srcId="{E3D6DD34-3015-4C65-AE1B-96E9DD65CE19}" destId="{BA1182CC-B4FF-463F-A5F9-79977895CC1C}" srcOrd="5" destOrd="0" parTransId="{8AD946E7-8E9C-456B-A3A3-3FF0374B2201}" sibTransId="{125A7759-2991-4630-826E-84431C2080A5}"/>
    <dgm:cxn modelId="{8389C17D-F456-4B72-8AE5-7839B9D4A8A2}" srcId="{E3D6DD34-3015-4C65-AE1B-96E9DD65CE19}" destId="{40A129EE-7B69-4B71-9E7C-025075CF2346}" srcOrd="4" destOrd="0" parTransId="{816A9887-7E64-42BC-ABAB-D6950DDBD770}" sibTransId="{47953C82-407F-4DE8-8210-C6874FAE6BC9}"/>
    <dgm:cxn modelId="{E7920382-B940-4624-B99B-AAD06F2BB441}" srcId="{E3D6DD34-3015-4C65-AE1B-96E9DD65CE19}" destId="{10DC7404-0B91-4115-92F4-07B49544E9AC}" srcOrd="2" destOrd="0" parTransId="{8DE17093-21D9-44E3-BB31-D82EBDD13A86}" sibTransId="{4734F498-EFA9-4E46-8AB2-11C3A5001A27}"/>
    <dgm:cxn modelId="{6C81258E-8E81-4539-83C0-0960BA3133B4}" type="presOf" srcId="{2D87D204-49E6-4509-A25F-4CDF101BF584}" destId="{FEA15D59-4B3B-43D8-9314-6D6792116954}" srcOrd="0" destOrd="0" presId="urn:microsoft.com/office/officeart/2005/8/layout/bProcess4"/>
    <dgm:cxn modelId="{B8A40399-640D-4B4C-A7D1-3FFE51A20202}" type="presOf" srcId="{0402DB10-9759-4075-BF02-71A9A006CC1E}" destId="{CF64A940-71D9-4613-8913-DA034ECAAA6F}" srcOrd="0" destOrd="0" presId="urn:microsoft.com/office/officeart/2005/8/layout/bProcess4"/>
    <dgm:cxn modelId="{AF8A33AE-30A6-4620-8177-BBAFD7213812}" type="presOf" srcId="{5F2671D4-75C5-4398-B1BA-A8666082D02B}" destId="{EB5C06A7-3539-405A-A8CE-FF95F7831CF6}" srcOrd="0" destOrd="0" presId="urn:microsoft.com/office/officeart/2005/8/layout/bProcess4"/>
    <dgm:cxn modelId="{344AC6B3-9141-47DD-B098-46038F8BC06D}" type="presOf" srcId="{BA1182CC-B4FF-463F-A5F9-79977895CC1C}" destId="{AE19C89D-229D-41F7-ADB2-C1DF3010B7FA}" srcOrd="0" destOrd="0" presId="urn:microsoft.com/office/officeart/2005/8/layout/bProcess4"/>
    <dgm:cxn modelId="{C4E5B1B9-1D61-4A8D-BEBA-6BF3E0A67E87}" srcId="{E3D6DD34-3015-4C65-AE1B-96E9DD65CE19}" destId="{2A2BBB1E-E226-4FE6-A4F5-5515C1C8BDE4}" srcOrd="0" destOrd="0" parTransId="{EF3670FF-659B-426B-8295-FC1E7D4330D2}" sibTransId="{5C996B24-092B-4B4E-95DA-1E51C18F8CC0}"/>
    <dgm:cxn modelId="{263AB3C9-5148-48D0-B6DD-4F1C4CD11061}" srcId="{E3D6DD34-3015-4C65-AE1B-96E9DD65CE19}" destId="{5F2671D4-75C5-4398-B1BA-A8666082D02B}" srcOrd="1" destOrd="0" parTransId="{8EF6EA37-E5E9-4689-BC40-E5AC3AE61E10}" sibTransId="{3D6D847A-A1E9-43B7-A8E8-90A470167638}"/>
    <dgm:cxn modelId="{817EDCD0-2D52-4F58-AC87-525A84436E03}" type="presOf" srcId="{125A7759-2991-4630-826E-84431C2080A5}" destId="{01A813B6-D3EE-4F8E-A86D-E2735BED4A3D}" srcOrd="0" destOrd="0" presId="urn:microsoft.com/office/officeart/2005/8/layout/bProcess4"/>
    <dgm:cxn modelId="{7D45BBDC-6D47-43AB-BAD2-5AF279A24F94}" type="presOf" srcId="{56FB01AB-D456-44B0-AC5F-5E36341B2015}" destId="{22E11A14-02AD-4938-9DA9-B5C5DBDAD83E}" srcOrd="0" destOrd="0" presId="urn:microsoft.com/office/officeart/2005/8/layout/bProcess4"/>
    <dgm:cxn modelId="{8F5ADEE3-F3CB-4212-9AA9-E168BBCE5F82}" type="presOf" srcId="{4734F498-EFA9-4E46-8AB2-11C3A5001A27}" destId="{8B26D992-1E5C-495A-A7DF-6A71C51BCD56}" srcOrd="0" destOrd="0" presId="urn:microsoft.com/office/officeart/2005/8/layout/bProcess4"/>
    <dgm:cxn modelId="{A5A399E6-185B-4BA8-AD5E-61BA75B5027F}" type="presOf" srcId="{10DC7404-0B91-4115-92F4-07B49544E9AC}" destId="{E8FF7DD7-B122-4AF7-BBB0-C73DB57CEE8B}" srcOrd="0" destOrd="0" presId="urn:microsoft.com/office/officeart/2005/8/layout/bProcess4"/>
    <dgm:cxn modelId="{CDAB6FED-1423-406C-AC75-A8CCC8FE4757}" type="presOf" srcId="{6CAF3CEF-3753-48BF-A5E0-0EB4DA97577D}" destId="{F2E1A53D-6277-4052-919D-578A33A4BEE6}" srcOrd="0" destOrd="0" presId="urn:microsoft.com/office/officeart/2005/8/layout/bProcess4"/>
    <dgm:cxn modelId="{CCB4A4F8-C08D-4CFF-A70E-4B47B37F2BE0}" srcId="{E3D6DD34-3015-4C65-AE1B-96E9DD65CE19}" destId="{6CAF3CEF-3753-48BF-A5E0-0EB4DA97577D}" srcOrd="6" destOrd="0" parTransId="{56F1BF81-F77A-4B21-BD91-76E5E63F1632}" sibTransId="{84C5941C-74C1-479C-8811-C047119D6BFE}"/>
    <dgm:cxn modelId="{79A09DF9-AB54-4DEB-861E-C86AA064F192}" type="presOf" srcId="{47953C82-407F-4DE8-8210-C6874FAE6BC9}" destId="{0AACDE55-B531-4F71-BE66-2207E26BFBB2}" srcOrd="0" destOrd="0" presId="urn:microsoft.com/office/officeart/2005/8/layout/bProcess4"/>
    <dgm:cxn modelId="{C45340CA-71C6-4F05-B198-83B672B93FF9}" type="presParOf" srcId="{B65E9456-75CE-4E81-B2CD-91BFFB79775B}" destId="{47959D27-A3B7-4643-AABC-7EBB74DC413B}" srcOrd="0" destOrd="0" presId="urn:microsoft.com/office/officeart/2005/8/layout/bProcess4"/>
    <dgm:cxn modelId="{11849CA2-8DEA-4F5A-81EA-D58ACD8F98BA}" type="presParOf" srcId="{47959D27-A3B7-4643-AABC-7EBB74DC413B}" destId="{CE55F43C-53C0-4252-868A-0A66349AE8C5}" srcOrd="0" destOrd="0" presId="urn:microsoft.com/office/officeart/2005/8/layout/bProcess4"/>
    <dgm:cxn modelId="{950D4169-E046-4E32-9B61-020027674247}" type="presParOf" srcId="{47959D27-A3B7-4643-AABC-7EBB74DC413B}" destId="{FC6ED36A-649D-4AB5-81A4-12794783AD2C}" srcOrd="1" destOrd="0" presId="urn:microsoft.com/office/officeart/2005/8/layout/bProcess4"/>
    <dgm:cxn modelId="{D6FC214B-B414-4824-A0D3-2C4CB9A3E836}" type="presParOf" srcId="{B65E9456-75CE-4E81-B2CD-91BFFB79775B}" destId="{AA5B1D86-AFCB-4ED8-A758-69BE7DA043D0}" srcOrd="1" destOrd="0" presId="urn:microsoft.com/office/officeart/2005/8/layout/bProcess4"/>
    <dgm:cxn modelId="{2D1F32C6-6E70-4D9D-A3AA-6B644FD1B14A}" type="presParOf" srcId="{B65E9456-75CE-4E81-B2CD-91BFFB79775B}" destId="{F282A298-3504-4F50-8B01-D6DAE051A6DD}" srcOrd="2" destOrd="0" presId="urn:microsoft.com/office/officeart/2005/8/layout/bProcess4"/>
    <dgm:cxn modelId="{A967D236-64C6-44B6-9738-11289F9FE28D}" type="presParOf" srcId="{F282A298-3504-4F50-8B01-D6DAE051A6DD}" destId="{49A3092E-4B76-4704-82FD-C9717E98A005}" srcOrd="0" destOrd="0" presId="urn:microsoft.com/office/officeart/2005/8/layout/bProcess4"/>
    <dgm:cxn modelId="{F1C73D37-C8E4-4787-A57B-ECA281C5F4A8}" type="presParOf" srcId="{F282A298-3504-4F50-8B01-D6DAE051A6DD}" destId="{EB5C06A7-3539-405A-A8CE-FF95F7831CF6}" srcOrd="1" destOrd="0" presId="urn:microsoft.com/office/officeart/2005/8/layout/bProcess4"/>
    <dgm:cxn modelId="{692133F5-757A-4EAE-AF43-3617066006B6}" type="presParOf" srcId="{B65E9456-75CE-4E81-B2CD-91BFFB79775B}" destId="{584E6E0F-7010-4F94-B2A0-4E890CDD3C39}" srcOrd="3" destOrd="0" presId="urn:microsoft.com/office/officeart/2005/8/layout/bProcess4"/>
    <dgm:cxn modelId="{C1E5117E-E192-4E2B-BFE7-53BF68FFE625}" type="presParOf" srcId="{B65E9456-75CE-4E81-B2CD-91BFFB79775B}" destId="{917F5D31-8AE8-4649-A719-05920994A3A2}" srcOrd="4" destOrd="0" presId="urn:microsoft.com/office/officeart/2005/8/layout/bProcess4"/>
    <dgm:cxn modelId="{06C7427F-E507-48C7-90E4-AF226448A3E1}" type="presParOf" srcId="{917F5D31-8AE8-4649-A719-05920994A3A2}" destId="{48CD8461-D650-4C5C-8057-F36F77FD0526}" srcOrd="0" destOrd="0" presId="urn:microsoft.com/office/officeart/2005/8/layout/bProcess4"/>
    <dgm:cxn modelId="{668268CB-D910-4063-B297-A5B7D1773736}" type="presParOf" srcId="{917F5D31-8AE8-4649-A719-05920994A3A2}" destId="{E8FF7DD7-B122-4AF7-BBB0-C73DB57CEE8B}" srcOrd="1" destOrd="0" presId="urn:microsoft.com/office/officeart/2005/8/layout/bProcess4"/>
    <dgm:cxn modelId="{B3244FD4-6844-4E9B-9ED6-8E603EABFBE8}" type="presParOf" srcId="{B65E9456-75CE-4E81-B2CD-91BFFB79775B}" destId="{8B26D992-1E5C-495A-A7DF-6A71C51BCD56}" srcOrd="5" destOrd="0" presId="urn:microsoft.com/office/officeart/2005/8/layout/bProcess4"/>
    <dgm:cxn modelId="{5DCA0D09-DF16-495D-997F-6FCE7215B416}" type="presParOf" srcId="{B65E9456-75CE-4E81-B2CD-91BFFB79775B}" destId="{F9EC2FE5-AF56-4659-9534-B19B3E54E084}" srcOrd="6" destOrd="0" presId="urn:microsoft.com/office/officeart/2005/8/layout/bProcess4"/>
    <dgm:cxn modelId="{4E234200-3972-43BC-B171-91737DCB4BFB}" type="presParOf" srcId="{F9EC2FE5-AF56-4659-9534-B19B3E54E084}" destId="{B3CE7678-6B17-40D4-AA0D-9B7ECC39D283}" srcOrd="0" destOrd="0" presId="urn:microsoft.com/office/officeart/2005/8/layout/bProcess4"/>
    <dgm:cxn modelId="{035BA6F3-9888-4BD5-9504-59346007C438}" type="presParOf" srcId="{F9EC2FE5-AF56-4659-9534-B19B3E54E084}" destId="{22E11A14-02AD-4938-9DA9-B5C5DBDAD83E}" srcOrd="1" destOrd="0" presId="urn:microsoft.com/office/officeart/2005/8/layout/bProcess4"/>
    <dgm:cxn modelId="{AED8D6C1-370A-44E9-A8F3-9EF9047693C2}" type="presParOf" srcId="{B65E9456-75CE-4E81-B2CD-91BFFB79775B}" destId="{CF64A940-71D9-4613-8913-DA034ECAAA6F}" srcOrd="7" destOrd="0" presId="urn:microsoft.com/office/officeart/2005/8/layout/bProcess4"/>
    <dgm:cxn modelId="{621F73C3-8031-4722-B056-FD3E866B5126}" type="presParOf" srcId="{B65E9456-75CE-4E81-B2CD-91BFFB79775B}" destId="{22BD358E-E539-444F-8920-DE8D57BD7167}" srcOrd="8" destOrd="0" presId="urn:microsoft.com/office/officeart/2005/8/layout/bProcess4"/>
    <dgm:cxn modelId="{C0DDEE83-E5C5-4F29-BDB7-0EDF127E5A16}" type="presParOf" srcId="{22BD358E-E539-444F-8920-DE8D57BD7167}" destId="{369CA02F-90CC-4C00-B1A9-B46A90C5E7D3}" srcOrd="0" destOrd="0" presId="urn:microsoft.com/office/officeart/2005/8/layout/bProcess4"/>
    <dgm:cxn modelId="{C2F1893D-62C8-4824-8A47-5D3E31358FBA}" type="presParOf" srcId="{22BD358E-E539-444F-8920-DE8D57BD7167}" destId="{65B9F507-D676-4E9C-83A2-1997ECDEEF40}" srcOrd="1" destOrd="0" presId="urn:microsoft.com/office/officeart/2005/8/layout/bProcess4"/>
    <dgm:cxn modelId="{2BA70D8A-5C8B-4458-8531-EB376AA70234}" type="presParOf" srcId="{B65E9456-75CE-4E81-B2CD-91BFFB79775B}" destId="{0AACDE55-B531-4F71-BE66-2207E26BFBB2}" srcOrd="9" destOrd="0" presId="urn:microsoft.com/office/officeart/2005/8/layout/bProcess4"/>
    <dgm:cxn modelId="{05D8A99B-09A4-46A8-86DD-EB1B9B4EAFE6}" type="presParOf" srcId="{B65E9456-75CE-4E81-B2CD-91BFFB79775B}" destId="{9A48D556-C758-495B-830B-ADE7851E7CE0}" srcOrd="10" destOrd="0" presId="urn:microsoft.com/office/officeart/2005/8/layout/bProcess4"/>
    <dgm:cxn modelId="{38DBC851-CFD1-421E-9CD3-91E57227CAC9}" type="presParOf" srcId="{9A48D556-C758-495B-830B-ADE7851E7CE0}" destId="{52306464-2482-492D-AA3F-31FED3A01966}" srcOrd="0" destOrd="0" presId="urn:microsoft.com/office/officeart/2005/8/layout/bProcess4"/>
    <dgm:cxn modelId="{86CFB948-92E3-4FC5-93FB-4654F45A1319}" type="presParOf" srcId="{9A48D556-C758-495B-830B-ADE7851E7CE0}" destId="{AE19C89D-229D-41F7-ADB2-C1DF3010B7FA}" srcOrd="1" destOrd="0" presId="urn:microsoft.com/office/officeart/2005/8/layout/bProcess4"/>
    <dgm:cxn modelId="{F152EC71-3AA3-4F70-B70A-D81A2E6BEFB0}" type="presParOf" srcId="{B65E9456-75CE-4E81-B2CD-91BFFB79775B}" destId="{01A813B6-D3EE-4F8E-A86D-E2735BED4A3D}" srcOrd="11" destOrd="0" presId="urn:microsoft.com/office/officeart/2005/8/layout/bProcess4"/>
    <dgm:cxn modelId="{47EFB536-4319-471A-A35E-9381E42D244E}" type="presParOf" srcId="{B65E9456-75CE-4E81-B2CD-91BFFB79775B}" destId="{BB5DF7E9-FFE1-4C78-B387-1C3798994DCF}" srcOrd="12" destOrd="0" presId="urn:microsoft.com/office/officeart/2005/8/layout/bProcess4"/>
    <dgm:cxn modelId="{69BB6412-277B-4D9A-A7D0-8F6D22261DB4}" type="presParOf" srcId="{BB5DF7E9-FFE1-4C78-B387-1C3798994DCF}" destId="{8E8BAAC0-0FB1-4E0C-96A8-852D79FBDBA5}" srcOrd="0" destOrd="0" presId="urn:microsoft.com/office/officeart/2005/8/layout/bProcess4"/>
    <dgm:cxn modelId="{51D533CC-D6DB-4201-9E7A-71B523DAC327}" type="presParOf" srcId="{BB5DF7E9-FFE1-4C78-B387-1C3798994DCF}" destId="{F2E1A53D-6277-4052-919D-578A33A4BEE6}" srcOrd="1" destOrd="0" presId="urn:microsoft.com/office/officeart/2005/8/layout/bProcess4"/>
    <dgm:cxn modelId="{0A2FFF8C-A690-4468-8AFB-5DF23556EE35}" type="presParOf" srcId="{B65E9456-75CE-4E81-B2CD-91BFFB79775B}" destId="{C8837FA2-D11D-48E4-9DBC-7CA06075AA19}" srcOrd="13" destOrd="0" presId="urn:microsoft.com/office/officeart/2005/8/layout/bProcess4"/>
    <dgm:cxn modelId="{D5FCFBEF-3256-4789-8869-B0D91FB72707}" type="presParOf" srcId="{B65E9456-75CE-4E81-B2CD-91BFFB79775B}" destId="{70025D6C-AC53-43BE-88E0-080A8730E98D}" srcOrd="14" destOrd="0" presId="urn:microsoft.com/office/officeart/2005/8/layout/bProcess4"/>
    <dgm:cxn modelId="{78264C9D-BDF3-4179-8D82-36B74AFCAEF6}" type="presParOf" srcId="{70025D6C-AC53-43BE-88E0-080A8730E98D}" destId="{0AEA747A-CFEC-4912-9E03-2827703764FF}" srcOrd="0" destOrd="0" presId="urn:microsoft.com/office/officeart/2005/8/layout/bProcess4"/>
    <dgm:cxn modelId="{EA316244-C147-4383-864B-C286D25E113C}" type="presParOf" srcId="{70025D6C-AC53-43BE-88E0-080A8730E98D}" destId="{FEA15D59-4B3B-43D8-9314-6D6792116954}" srcOrd="1" destOrd="0" presId="urn:microsoft.com/office/officeart/2005/8/layout/bProcess4"/>
    <dgm:cxn modelId="{E241C954-9ED4-40F8-8249-2F43A83D7D55}" type="presParOf" srcId="{B65E9456-75CE-4E81-B2CD-91BFFB79775B}" destId="{62271EA5-154E-49FD-B671-BF2BB5280BF5}" srcOrd="15" destOrd="0" presId="urn:microsoft.com/office/officeart/2005/8/layout/bProcess4"/>
    <dgm:cxn modelId="{1490F8C7-21C5-42AB-A93F-2DAE619FF9C4}" type="presParOf" srcId="{B65E9456-75CE-4E81-B2CD-91BFFB79775B}" destId="{F05319AC-43BE-4359-A758-8DBC4EAC72B9}" srcOrd="16" destOrd="0" presId="urn:microsoft.com/office/officeart/2005/8/layout/bProcess4"/>
    <dgm:cxn modelId="{139C084F-B877-4A49-AE2E-05A68A8006F6}" type="presParOf" srcId="{F05319AC-43BE-4359-A758-8DBC4EAC72B9}" destId="{A25C873B-DF26-4230-908E-D3966F9B0179}" srcOrd="0" destOrd="0" presId="urn:microsoft.com/office/officeart/2005/8/layout/bProcess4"/>
    <dgm:cxn modelId="{CA186216-F7A7-43DF-ACD3-1E490F784CCA}" type="presParOf" srcId="{F05319AC-43BE-4359-A758-8DBC4EAC72B9}" destId="{8E471604-B3AF-44ED-8BC6-F792C2001C84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7FAE27-D36F-463B-B3FC-0E04EF868BDD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1438BC-DABE-4E49-8492-D8D31B47C76C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/>
            <a:t>Top Predictive Features:</a:t>
          </a:r>
          <a:br>
            <a:rPr lang="en-GB" sz="2500" kern="1200"/>
          </a:br>
          <a:r>
            <a:rPr lang="en-GB" sz="2500" kern="1200"/>
            <a:t>• Recent donation recency</a:t>
          </a:r>
          <a:br>
            <a:rPr lang="en-GB" sz="2500" kern="1200"/>
          </a:br>
          <a:r>
            <a:rPr lang="en-GB" sz="2500" kern="1200"/>
            <a:t>• Monetary amount (12m &amp; 24m windows)</a:t>
          </a:r>
          <a:br>
            <a:rPr lang="en-GB" sz="2500" kern="1200"/>
          </a:br>
          <a:r>
            <a:rPr lang="en-GB" sz="2500" kern="1200"/>
            <a:t>• Frequency of giving</a:t>
          </a:r>
          <a:br>
            <a:rPr lang="en-GB" sz="2500" kern="1200"/>
          </a:br>
          <a:r>
            <a:rPr lang="en-GB" sz="2500" kern="1200"/>
            <a:t>• Segment &amp; country</a:t>
          </a:r>
          <a:br>
            <a:rPr lang="en-GB" sz="2500" kern="1200"/>
          </a:br>
          <a:r>
            <a:rPr lang="en-GB" sz="2500" kern="1200"/>
            <a:t>• New donor indicator</a:t>
          </a:r>
          <a:endParaRPr lang="en-US" sz="2500" kern="1200"/>
        </a:p>
      </dsp:txBody>
      <dsp:txXfrm>
        <a:off x="608661" y="692298"/>
        <a:ext cx="4508047" cy="2799040"/>
      </dsp:txXfrm>
    </dsp:sp>
    <dsp:sp modelId="{418E3746-265A-4202-9E45-B94FD0E17772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D1A38F-D4DE-4985-AEBA-D76E5721A6C9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/>
            <a:t>Insights:</a:t>
          </a:r>
          <a:br>
            <a:rPr lang="en-GB" sz="2500" kern="1200"/>
          </a:br>
          <a:r>
            <a:rPr lang="en-GB" sz="2500" kern="1200"/>
            <a:t>• Recent &amp; higher-value donors are far more likely to give again</a:t>
          </a:r>
          <a:br>
            <a:rPr lang="en-GB" sz="2500" kern="1200"/>
          </a:br>
          <a:r>
            <a:rPr lang="en-GB" sz="2500" kern="1200"/>
            <a:t>• Very long recency strongly predicts churn</a:t>
          </a:r>
          <a:br>
            <a:rPr lang="en-GB" sz="2500" kern="1200"/>
          </a:br>
          <a:r>
            <a:rPr lang="en-GB" sz="2500" kern="1200"/>
            <a:t>• Simple behavioral features outperform complex models</a:t>
          </a:r>
          <a:endParaRPr lang="en-US" sz="2500" kern="1200"/>
        </a:p>
      </dsp:txBody>
      <dsp:txXfrm>
        <a:off x="6331365" y="692298"/>
        <a:ext cx="4508047" cy="27990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4D9A91-827A-4E9C-BE4C-F231C51D1EFF}">
      <dsp:nvSpPr>
        <dsp:cNvPr id="0" name=""/>
        <dsp:cNvSpPr/>
      </dsp:nvSpPr>
      <dsp:spPr>
        <a:xfrm>
          <a:off x="2669704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577453"/>
        <a:ext cx="22113" cy="4422"/>
      </dsp:txXfrm>
    </dsp:sp>
    <dsp:sp modelId="{651C7F0B-8303-43B4-A389-32D22BBA7655}">
      <dsp:nvSpPr>
        <dsp:cNvPr id="0" name=""/>
        <dsp:cNvSpPr/>
      </dsp:nvSpPr>
      <dsp:spPr>
        <a:xfrm>
          <a:off x="748607" y="2795"/>
          <a:ext cx="1922896" cy="1153737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q-AL" sz="1500" b="1" kern="1200" dirty="0" err="1"/>
            <a:t>Current</a:t>
          </a:r>
          <a:r>
            <a:rPr lang="sq-AL" sz="1500" b="1" kern="1200" dirty="0"/>
            <a:t> </a:t>
          </a:r>
          <a:r>
            <a:rPr lang="sq-AL" sz="1500" b="1" kern="1200" dirty="0" err="1"/>
            <a:t>Strategy</a:t>
          </a:r>
          <a:r>
            <a:rPr lang="sq-AL" sz="1500" b="1" kern="1200" dirty="0"/>
            <a:t> (</a:t>
          </a:r>
          <a:r>
            <a:rPr lang="sq-AL" sz="1500" b="1" kern="1200" dirty="0" err="1"/>
            <a:t>Mail</a:t>
          </a:r>
          <a:r>
            <a:rPr lang="sq-AL" sz="1500" b="1" kern="1200" dirty="0"/>
            <a:t> </a:t>
          </a:r>
          <a:r>
            <a:rPr lang="sq-AL" sz="1500" b="1" kern="1200" dirty="0" err="1"/>
            <a:t>Everyone</a:t>
          </a:r>
          <a:r>
            <a:rPr lang="sq-AL" sz="1500" b="1" kern="1200" dirty="0"/>
            <a:t>):</a:t>
          </a:r>
          <a:endParaRPr lang="en-US" sz="1500" kern="1200" dirty="0"/>
        </a:p>
      </dsp:txBody>
      <dsp:txXfrm>
        <a:off x="748607" y="2795"/>
        <a:ext cx="1922896" cy="1153737"/>
      </dsp:txXfrm>
    </dsp:sp>
    <dsp:sp modelId="{7036A471-5797-43B6-82C7-1226A8EE1F9A}">
      <dsp:nvSpPr>
        <dsp:cNvPr id="0" name=""/>
        <dsp:cNvSpPr/>
      </dsp:nvSpPr>
      <dsp:spPr>
        <a:xfrm>
          <a:off x="5034866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577453"/>
        <a:ext cx="22113" cy="4422"/>
      </dsp:txXfrm>
    </dsp:sp>
    <dsp:sp modelId="{A25313C9-5CE7-495E-86B7-66B2CB28E9D7}">
      <dsp:nvSpPr>
        <dsp:cNvPr id="0" name=""/>
        <dsp:cNvSpPr/>
      </dsp:nvSpPr>
      <dsp:spPr>
        <a:xfrm>
          <a:off x="3113770" y="2795"/>
          <a:ext cx="1922896" cy="1153737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q-AL" sz="1500" kern="1200"/>
            <a:t>Cost ≈ </a:t>
          </a:r>
          <a:r>
            <a:rPr lang="sq-AL" sz="1500" b="1" kern="1200"/>
            <a:t>€2.50 per donor</a:t>
          </a:r>
          <a:endParaRPr lang="en-US" sz="1500" kern="1200"/>
        </a:p>
      </dsp:txBody>
      <dsp:txXfrm>
        <a:off x="3113770" y="2795"/>
        <a:ext cx="1922896" cy="1153737"/>
      </dsp:txXfrm>
    </dsp:sp>
    <dsp:sp modelId="{6F8A97A6-C693-4ADE-A5CA-C48F84918D4C}">
      <dsp:nvSpPr>
        <dsp:cNvPr id="0" name=""/>
        <dsp:cNvSpPr/>
      </dsp:nvSpPr>
      <dsp:spPr>
        <a:xfrm>
          <a:off x="7400029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577453"/>
        <a:ext cx="22113" cy="4422"/>
      </dsp:txXfrm>
    </dsp:sp>
    <dsp:sp modelId="{F008FBDA-E05F-472F-8D36-3D1AD5A6611A}">
      <dsp:nvSpPr>
        <dsp:cNvPr id="0" name=""/>
        <dsp:cNvSpPr/>
      </dsp:nvSpPr>
      <dsp:spPr>
        <a:xfrm>
          <a:off x="5478933" y="2795"/>
          <a:ext cx="1922896" cy="1153737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q-AL" sz="1500" kern="1200"/>
            <a:t>2018 donations: </a:t>
          </a:r>
          <a:r>
            <a:rPr lang="sq-AL" sz="1500" b="1" kern="1200"/>
            <a:t>X</a:t>
          </a:r>
          <a:endParaRPr lang="en-US" sz="1500" kern="1200"/>
        </a:p>
      </dsp:txBody>
      <dsp:txXfrm>
        <a:off x="5478933" y="2795"/>
        <a:ext cx="1922896" cy="1153737"/>
      </dsp:txXfrm>
    </dsp:sp>
    <dsp:sp modelId="{EC326542-D036-42DE-BCB7-FD5249131C0F}">
      <dsp:nvSpPr>
        <dsp:cNvPr id="0" name=""/>
        <dsp:cNvSpPr/>
      </dsp:nvSpPr>
      <dsp:spPr>
        <a:xfrm>
          <a:off x="1710055" y="1154733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1358355"/>
        <a:ext cx="355462" cy="4422"/>
      </dsp:txXfrm>
    </dsp:sp>
    <dsp:sp modelId="{E019E506-3C1A-4FA2-B2AC-A4CC58662079}">
      <dsp:nvSpPr>
        <dsp:cNvPr id="0" name=""/>
        <dsp:cNvSpPr/>
      </dsp:nvSpPr>
      <dsp:spPr>
        <a:xfrm>
          <a:off x="7844095" y="2795"/>
          <a:ext cx="1922896" cy="1153737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q-AL" sz="1500" kern="1200"/>
            <a:t>Net profit ≈ </a:t>
          </a:r>
          <a:r>
            <a:rPr lang="sq-AL" sz="1500" b="1" kern="1200"/>
            <a:t>Revenue – Mailing cost</a:t>
          </a:r>
          <a:endParaRPr lang="en-US" sz="1500" kern="1200"/>
        </a:p>
      </dsp:txBody>
      <dsp:txXfrm>
        <a:off x="7844095" y="2795"/>
        <a:ext cx="1922896" cy="1153737"/>
      </dsp:txXfrm>
    </dsp:sp>
    <dsp:sp modelId="{3B11CD19-BC83-44E1-B7C5-C76FAE75EC9E}">
      <dsp:nvSpPr>
        <dsp:cNvPr id="0" name=""/>
        <dsp:cNvSpPr/>
      </dsp:nvSpPr>
      <dsp:spPr>
        <a:xfrm>
          <a:off x="2669704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2173457"/>
        <a:ext cx="22113" cy="4422"/>
      </dsp:txXfrm>
    </dsp:sp>
    <dsp:sp modelId="{864DECC4-820A-49F8-921F-A1B5EA7A408C}">
      <dsp:nvSpPr>
        <dsp:cNvPr id="0" name=""/>
        <dsp:cNvSpPr/>
      </dsp:nvSpPr>
      <dsp:spPr>
        <a:xfrm>
          <a:off x="748607" y="1598800"/>
          <a:ext cx="1922896" cy="1153737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q-AL" sz="1500" b="1" kern="1200"/>
            <a:t>Model-Driven Strategy (Top 30–40% highest-scoring donors):</a:t>
          </a:r>
          <a:endParaRPr lang="en-US" sz="1500" kern="1200"/>
        </a:p>
      </dsp:txBody>
      <dsp:txXfrm>
        <a:off x="748607" y="1598800"/>
        <a:ext cx="1922896" cy="1153737"/>
      </dsp:txXfrm>
    </dsp:sp>
    <dsp:sp modelId="{E2FE0675-7CF6-4791-8168-F83DB09E4526}">
      <dsp:nvSpPr>
        <dsp:cNvPr id="0" name=""/>
        <dsp:cNvSpPr/>
      </dsp:nvSpPr>
      <dsp:spPr>
        <a:xfrm>
          <a:off x="5034866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2173457"/>
        <a:ext cx="22113" cy="4422"/>
      </dsp:txXfrm>
    </dsp:sp>
    <dsp:sp modelId="{865BFB7D-8411-4C7C-A7CE-9A97D8B9CEB7}">
      <dsp:nvSpPr>
        <dsp:cNvPr id="0" name=""/>
        <dsp:cNvSpPr/>
      </dsp:nvSpPr>
      <dsp:spPr>
        <a:xfrm>
          <a:off x="3113770" y="1598800"/>
          <a:ext cx="1922896" cy="1153737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q-AL" sz="1500" kern="1200"/>
            <a:t>Cost drops by </a:t>
          </a:r>
          <a:r>
            <a:rPr lang="sq-AL" sz="1500" b="1" kern="1200"/>
            <a:t>60–70%</a:t>
          </a:r>
          <a:endParaRPr lang="en-US" sz="1500" kern="1200"/>
        </a:p>
      </dsp:txBody>
      <dsp:txXfrm>
        <a:off x="3113770" y="1598800"/>
        <a:ext cx="1922896" cy="1153737"/>
      </dsp:txXfrm>
    </dsp:sp>
    <dsp:sp modelId="{947ECD2D-7F9A-42FF-9FBA-2CDE3A03AABC}">
      <dsp:nvSpPr>
        <dsp:cNvPr id="0" name=""/>
        <dsp:cNvSpPr/>
      </dsp:nvSpPr>
      <dsp:spPr>
        <a:xfrm>
          <a:off x="7400029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2173457"/>
        <a:ext cx="22113" cy="4422"/>
      </dsp:txXfrm>
    </dsp:sp>
    <dsp:sp modelId="{FD55AD58-78AE-4550-9E58-52666EB9B2BC}">
      <dsp:nvSpPr>
        <dsp:cNvPr id="0" name=""/>
        <dsp:cNvSpPr/>
      </dsp:nvSpPr>
      <dsp:spPr>
        <a:xfrm>
          <a:off x="5478933" y="1598800"/>
          <a:ext cx="1922896" cy="1153737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q-AL" sz="1500" kern="1200"/>
            <a:t>Captures </a:t>
          </a:r>
          <a:r>
            <a:rPr lang="sq-AL" sz="1500" b="1" kern="1200"/>
            <a:t>70–80% of all donations</a:t>
          </a:r>
          <a:endParaRPr lang="en-US" sz="1500" kern="1200"/>
        </a:p>
      </dsp:txBody>
      <dsp:txXfrm>
        <a:off x="5478933" y="1598800"/>
        <a:ext cx="1922896" cy="1153737"/>
      </dsp:txXfrm>
    </dsp:sp>
    <dsp:sp modelId="{C456CEB1-0B15-4793-8CA3-2C8D67CBFB7F}">
      <dsp:nvSpPr>
        <dsp:cNvPr id="0" name=""/>
        <dsp:cNvSpPr/>
      </dsp:nvSpPr>
      <dsp:spPr>
        <a:xfrm>
          <a:off x="1710055" y="2750737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2954359"/>
        <a:ext cx="355462" cy="4422"/>
      </dsp:txXfrm>
    </dsp:sp>
    <dsp:sp modelId="{298B8567-69B7-4E7D-A75A-D4BD83DAEC23}">
      <dsp:nvSpPr>
        <dsp:cNvPr id="0" name=""/>
        <dsp:cNvSpPr/>
      </dsp:nvSpPr>
      <dsp:spPr>
        <a:xfrm>
          <a:off x="7844095" y="1598800"/>
          <a:ext cx="1922896" cy="1153737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q-AL" sz="1500" kern="1200"/>
            <a:t>Net profit increases significantly</a:t>
          </a:r>
          <a:endParaRPr lang="en-US" sz="1500" kern="1200"/>
        </a:p>
      </dsp:txBody>
      <dsp:txXfrm>
        <a:off x="7844095" y="1598800"/>
        <a:ext cx="1922896" cy="1153737"/>
      </dsp:txXfrm>
    </dsp:sp>
    <dsp:sp modelId="{45408BA8-1233-423C-8E5A-461321C1A5D5}">
      <dsp:nvSpPr>
        <dsp:cNvPr id="0" name=""/>
        <dsp:cNvSpPr/>
      </dsp:nvSpPr>
      <dsp:spPr>
        <a:xfrm>
          <a:off x="748607" y="3194804"/>
          <a:ext cx="1922896" cy="1153737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q-AL" sz="1500" b="1" kern="1200"/>
            <a:t>Lift:</a:t>
          </a:r>
          <a:r>
            <a:rPr lang="sq-AL" sz="1500" kern="1200"/>
            <a:t> Top 10% donors deliver </a:t>
          </a:r>
          <a:r>
            <a:rPr lang="sq-AL" sz="1500" b="1" kern="1200"/>
            <a:t>3–4× more</a:t>
          </a:r>
          <a:r>
            <a:rPr lang="sq-AL" sz="1500" kern="1200"/>
            <a:t> donations than random targeting</a:t>
          </a:r>
          <a:endParaRPr lang="en-US" sz="1500" kern="1200"/>
        </a:p>
      </dsp:txBody>
      <dsp:txXfrm>
        <a:off x="748607" y="3194804"/>
        <a:ext cx="1922896" cy="11537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5B1D86-AFCB-4ED8-A758-69BE7DA043D0}">
      <dsp:nvSpPr>
        <dsp:cNvPr id="0" name=""/>
        <dsp:cNvSpPr/>
      </dsp:nvSpPr>
      <dsp:spPr>
        <a:xfrm rot="5400000">
          <a:off x="-307534" y="1102794"/>
          <a:ext cx="1364761" cy="164950"/>
        </a:xfrm>
        <a:prstGeom prst="rect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C6ED36A-649D-4AB5-81A4-12794783AD2C}">
      <dsp:nvSpPr>
        <dsp:cNvPr id="0" name=""/>
        <dsp:cNvSpPr/>
      </dsp:nvSpPr>
      <dsp:spPr>
        <a:xfrm>
          <a:off x="3377" y="227309"/>
          <a:ext cx="1832784" cy="10996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Predictive modeling improves donor targeting </a:t>
          </a:r>
          <a:r>
            <a:rPr lang="en-GB" sz="1100" b="1" kern="1200"/>
            <a:t>dramatically</a:t>
          </a:r>
          <a:r>
            <a:rPr lang="en-GB" sz="1100" kern="1200"/>
            <a:t>.</a:t>
          </a:r>
          <a:endParaRPr lang="en-US" sz="1100" kern="1200"/>
        </a:p>
      </dsp:txBody>
      <dsp:txXfrm>
        <a:off x="35585" y="259517"/>
        <a:ext cx="1768368" cy="1035254"/>
      </dsp:txXfrm>
    </dsp:sp>
    <dsp:sp modelId="{584E6E0F-7010-4F94-B2A0-4E890CDD3C39}">
      <dsp:nvSpPr>
        <dsp:cNvPr id="0" name=""/>
        <dsp:cNvSpPr/>
      </dsp:nvSpPr>
      <dsp:spPr>
        <a:xfrm rot="5400000">
          <a:off x="-307534" y="2477382"/>
          <a:ext cx="1364761" cy="164950"/>
        </a:xfrm>
        <a:prstGeom prst="rect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B5C06A7-3539-405A-A8CE-FF95F7831CF6}">
      <dsp:nvSpPr>
        <dsp:cNvPr id="0" name=""/>
        <dsp:cNvSpPr/>
      </dsp:nvSpPr>
      <dsp:spPr>
        <a:xfrm>
          <a:off x="3377" y="1601897"/>
          <a:ext cx="1832784" cy="10996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Mailing only the highest-probability donors maximizes ROI.</a:t>
          </a:r>
          <a:endParaRPr lang="en-US" sz="1100" kern="1200"/>
        </a:p>
      </dsp:txBody>
      <dsp:txXfrm>
        <a:off x="35585" y="1634105"/>
        <a:ext cx="1768368" cy="1035254"/>
      </dsp:txXfrm>
    </dsp:sp>
    <dsp:sp modelId="{8B26D992-1E5C-495A-A7DF-6A71C51BCD56}">
      <dsp:nvSpPr>
        <dsp:cNvPr id="0" name=""/>
        <dsp:cNvSpPr/>
      </dsp:nvSpPr>
      <dsp:spPr>
        <a:xfrm>
          <a:off x="379760" y="3164676"/>
          <a:ext cx="2427776" cy="164950"/>
        </a:xfrm>
        <a:prstGeom prst="rect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8FF7DD7-B122-4AF7-BBB0-C73DB57CEE8B}">
      <dsp:nvSpPr>
        <dsp:cNvPr id="0" name=""/>
        <dsp:cNvSpPr/>
      </dsp:nvSpPr>
      <dsp:spPr>
        <a:xfrm>
          <a:off x="3377" y="2976485"/>
          <a:ext cx="1832784" cy="10996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Gradient Boosting provides the best balance of accuracy and cost savings.</a:t>
          </a:r>
          <a:endParaRPr lang="en-US" sz="1100" kern="1200"/>
        </a:p>
      </dsp:txBody>
      <dsp:txXfrm>
        <a:off x="35585" y="3008693"/>
        <a:ext cx="1768368" cy="1035254"/>
      </dsp:txXfrm>
    </dsp:sp>
    <dsp:sp modelId="{CF64A940-71D9-4613-8913-DA034ECAAA6F}">
      <dsp:nvSpPr>
        <dsp:cNvPr id="0" name=""/>
        <dsp:cNvSpPr/>
      </dsp:nvSpPr>
      <dsp:spPr>
        <a:xfrm rot="16200000">
          <a:off x="2130068" y="2477382"/>
          <a:ext cx="1364761" cy="164950"/>
        </a:xfrm>
        <a:prstGeom prst="rect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2E11A14-02AD-4938-9DA9-B5C5DBDAD83E}">
      <dsp:nvSpPr>
        <dsp:cNvPr id="0" name=""/>
        <dsp:cNvSpPr/>
      </dsp:nvSpPr>
      <dsp:spPr>
        <a:xfrm>
          <a:off x="2440979" y="2976485"/>
          <a:ext cx="1832784" cy="10996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Implementing this approach can </a:t>
          </a:r>
          <a:r>
            <a:rPr lang="en-GB" sz="1100" b="1" kern="1200"/>
            <a:t>increase profit</a:t>
          </a:r>
          <a:r>
            <a:rPr lang="en-GB" sz="1100" kern="1200"/>
            <a:t>, </a:t>
          </a:r>
          <a:r>
            <a:rPr lang="en-GB" sz="1100" b="1" kern="1200"/>
            <a:t>reduce costs</a:t>
          </a:r>
          <a:r>
            <a:rPr lang="en-GB" sz="1100" kern="1200"/>
            <a:t>, and </a:t>
          </a:r>
          <a:r>
            <a:rPr lang="en-GB" sz="1100" b="1" kern="1200"/>
            <a:t>focus outreach</a:t>
          </a:r>
          <a:r>
            <a:rPr lang="en-GB" sz="1100" kern="1200"/>
            <a:t> on donors most likely to give.</a:t>
          </a:r>
          <a:endParaRPr lang="en-US" sz="1100" kern="1200"/>
        </a:p>
      </dsp:txBody>
      <dsp:txXfrm>
        <a:off x="2473187" y="3008693"/>
        <a:ext cx="1768368" cy="1035254"/>
      </dsp:txXfrm>
    </dsp:sp>
    <dsp:sp modelId="{0AACDE55-B531-4F71-BE66-2207E26BFBB2}">
      <dsp:nvSpPr>
        <dsp:cNvPr id="0" name=""/>
        <dsp:cNvSpPr/>
      </dsp:nvSpPr>
      <dsp:spPr>
        <a:xfrm rot="16200000">
          <a:off x="2130068" y="1102794"/>
          <a:ext cx="1364761" cy="164950"/>
        </a:xfrm>
        <a:prstGeom prst="rect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5B9F507-D676-4E9C-83A2-1997ECDEEF40}">
      <dsp:nvSpPr>
        <dsp:cNvPr id="0" name=""/>
        <dsp:cNvSpPr/>
      </dsp:nvSpPr>
      <dsp:spPr>
        <a:xfrm>
          <a:off x="2440979" y="1601897"/>
          <a:ext cx="1832784" cy="10996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/>
            <a:t>Next Steps</a:t>
          </a:r>
          <a:endParaRPr lang="en-US" sz="1100" kern="1200"/>
        </a:p>
      </dsp:txBody>
      <dsp:txXfrm>
        <a:off x="2473187" y="1634105"/>
        <a:ext cx="1768368" cy="1035254"/>
      </dsp:txXfrm>
    </dsp:sp>
    <dsp:sp modelId="{01A813B6-D3EE-4F8E-A86D-E2735BED4A3D}">
      <dsp:nvSpPr>
        <dsp:cNvPr id="0" name=""/>
        <dsp:cNvSpPr/>
      </dsp:nvSpPr>
      <dsp:spPr>
        <a:xfrm>
          <a:off x="2817362" y="415500"/>
          <a:ext cx="2427776" cy="164950"/>
        </a:xfrm>
        <a:prstGeom prst="rect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E19C89D-229D-41F7-ADB2-C1DF3010B7FA}">
      <dsp:nvSpPr>
        <dsp:cNvPr id="0" name=""/>
        <dsp:cNvSpPr/>
      </dsp:nvSpPr>
      <dsp:spPr>
        <a:xfrm>
          <a:off x="2440979" y="227309"/>
          <a:ext cx="1832784" cy="10996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Deploy the scoring pipeline</a:t>
          </a:r>
          <a:endParaRPr lang="en-US" sz="1100" kern="1200"/>
        </a:p>
      </dsp:txBody>
      <dsp:txXfrm>
        <a:off x="2473187" y="259517"/>
        <a:ext cx="1768368" cy="1035254"/>
      </dsp:txXfrm>
    </dsp:sp>
    <dsp:sp modelId="{C8837FA2-D11D-48E4-9DBC-7CA06075AA19}">
      <dsp:nvSpPr>
        <dsp:cNvPr id="0" name=""/>
        <dsp:cNvSpPr/>
      </dsp:nvSpPr>
      <dsp:spPr>
        <a:xfrm rot="5400000">
          <a:off x="4567671" y="1102794"/>
          <a:ext cx="1364761" cy="164950"/>
        </a:xfrm>
        <a:prstGeom prst="rect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2E1A53D-6277-4052-919D-578A33A4BEE6}">
      <dsp:nvSpPr>
        <dsp:cNvPr id="0" name=""/>
        <dsp:cNvSpPr/>
      </dsp:nvSpPr>
      <dsp:spPr>
        <a:xfrm>
          <a:off x="4878582" y="227309"/>
          <a:ext cx="1832784" cy="10996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Integrate into donor-mailing system</a:t>
          </a:r>
          <a:endParaRPr lang="en-US" sz="1100" kern="1200"/>
        </a:p>
      </dsp:txBody>
      <dsp:txXfrm>
        <a:off x="4910790" y="259517"/>
        <a:ext cx="1768368" cy="1035254"/>
      </dsp:txXfrm>
    </dsp:sp>
    <dsp:sp modelId="{62271EA5-154E-49FD-B671-BF2BB5280BF5}">
      <dsp:nvSpPr>
        <dsp:cNvPr id="0" name=""/>
        <dsp:cNvSpPr/>
      </dsp:nvSpPr>
      <dsp:spPr>
        <a:xfrm rot="5400000">
          <a:off x="4567671" y="2477382"/>
          <a:ext cx="1364761" cy="164950"/>
        </a:xfrm>
        <a:prstGeom prst="rect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EA15D59-4B3B-43D8-9314-6D6792116954}">
      <dsp:nvSpPr>
        <dsp:cNvPr id="0" name=""/>
        <dsp:cNvSpPr/>
      </dsp:nvSpPr>
      <dsp:spPr>
        <a:xfrm>
          <a:off x="4878582" y="1601897"/>
          <a:ext cx="1832784" cy="10996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Monitor model performance quarterly</a:t>
          </a:r>
          <a:endParaRPr lang="en-US" sz="1100" kern="1200"/>
        </a:p>
      </dsp:txBody>
      <dsp:txXfrm>
        <a:off x="4910790" y="1634105"/>
        <a:ext cx="1768368" cy="1035254"/>
      </dsp:txXfrm>
    </dsp:sp>
    <dsp:sp modelId="{8E471604-B3AF-44ED-8BC6-F792C2001C84}">
      <dsp:nvSpPr>
        <dsp:cNvPr id="0" name=""/>
        <dsp:cNvSpPr/>
      </dsp:nvSpPr>
      <dsp:spPr>
        <a:xfrm>
          <a:off x="4878582" y="2976485"/>
          <a:ext cx="1832784" cy="10996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Run A/B tests to measure impact</a:t>
          </a:r>
          <a:endParaRPr lang="en-US" sz="1100" kern="1200"/>
        </a:p>
      </dsp:txBody>
      <dsp:txXfrm>
        <a:off x="4910790" y="3008693"/>
        <a:ext cx="1768368" cy="10352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64CFF-DC9F-4646-1D3A-E61556EF60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66FF0F-AEA0-B190-4785-A939978B21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8B376-3599-0B1B-A7C6-BC9F0168D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59B83-EE57-48C5-9A6E-E45C2A754FF0}" type="datetimeFigureOut">
              <a:rPr lang="LID4096" smtClean="0"/>
              <a:t>11/16/2025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5DBBD-FC32-373E-F5C6-28A6895C2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A57CB-B0C2-7FE1-14AE-4E9A92308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574D-9C3D-466B-9124-0798C71C996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00774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38344-EACD-4F19-A14F-B14C825FA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FCE27-A0C9-1C08-FAE9-C39A31064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35652-E0E0-4080-7DE0-A044530D3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59B83-EE57-48C5-9A6E-E45C2A754FF0}" type="datetimeFigureOut">
              <a:rPr lang="LID4096" smtClean="0"/>
              <a:t>11/16/2025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0E7D5-7FB3-D188-28B2-3739B2D72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58F0B-056F-C5AC-F036-953AB68F7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574D-9C3D-466B-9124-0798C71C996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29974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92FCC-9679-743C-FAC3-8DBD900E3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6C909-D32D-98D8-7C55-514598473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6244-3B52-3067-C5BC-932B4DCB0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59B83-EE57-48C5-9A6E-E45C2A754FF0}" type="datetimeFigureOut">
              <a:rPr lang="LID4096" smtClean="0"/>
              <a:t>11/16/2025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A4AD7-A910-276F-189E-D56ED1F5F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21831-F7B7-A219-61B4-0B36AB9DE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574D-9C3D-466B-9124-0798C71C996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66923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37385-0450-7140-6AEE-537990C32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327E0-55C1-C633-6514-8631187E94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A3C9B1-003A-ED38-5B1E-E1B2E89F59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D2F4F0-4B13-8BAB-A685-164CBA4CA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59B83-EE57-48C5-9A6E-E45C2A754FF0}" type="datetimeFigureOut">
              <a:rPr lang="LID4096" smtClean="0"/>
              <a:t>11/16/2025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CA35F3-CACA-93D5-4711-39DD61B0A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618C5-EC21-DC6F-A42E-749247436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574D-9C3D-466B-9124-0798C71C996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12056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090EA-2096-48EF-8A30-2BD8017DB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0F496-CEE8-4704-3046-4F4443852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5B020B-8812-4D9C-2040-EFA77E6C0E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13E3B8-52C2-C21A-7B82-D29379150B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C5A593-9CB5-C05C-E7C0-897C14D157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86FADC-DA2F-E32E-B0D1-70B2DDE2C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59B83-EE57-48C5-9A6E-E45C2A754FF0}" type="datetimeFigureOut">
              <a:rPr lang="LID4096" smtClean="0"/>
              <a:t>11/16/2025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105E0-3D84-D06D-C640-A8B92CC56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CAD602-8718-802F-DE87-9EAD93358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574D-9C3D-466B-9124-0798C71C996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24416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6F3C8-0C57-8964-803C-333CDFB66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21FC4D-0289-8F67-AF3C-456EFD086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59B83-EE57-48C5-9A6E-E45C2A754FF0}" type="datetimeFigureOut">
              <a:rPr lang="LID4096" smtClean="0"/>
              <a:t>11/16/2025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EF7CB3-41AF-C968-6EE5-B500DE97C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69014-591F-5CC3-3CA2-AEE8C5EB7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574D-9C3D-466B-9124-0798C71C996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2586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F4C10E-D67E-C801-E3EE-8767C15DC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59B83-EE57-48C5-9A6E-E45C2A754FF0}" type="datetimeFigureOut">
              <a:rPr lang="LID4096" smtClean="0"/>
              <a:t>11/16/2025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2E1296-DF3B-06A3-1930-0110677AB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104519-7AF7-8269-9CE5-E738DCA2B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574D-9C3D-466B-9124-0798C71C996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51819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FA146-1913-1987-AC91-07CE45664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67C37-5EBC-C6DA-4212-3954C7297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8D98E4-2156-6C91-BB4F-D2B614305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C8722-5DC1-E544-ED0F-33AFE6F34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59B83-EE57-48C5-9A6E-E45C2A754FF0}" type="datetimeFigureOut">
              <a:rPr lang="LID4096" smtClean="0"/>
              <a:t>11/16/2025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803B4-5E29-07B6-D182-624AA7DE2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89327E-E285-B8A9-C7A1-66E9ECEEA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574D-9C3D-466B-9124-0798C71C996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98451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7D98D-90BB-955D-56E6-7A90FFDDF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3B2A7A-926F-5469-31F7-A4717EF0C4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2A8B53-2572-098F-ECA6-62208F5B64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70D72-E529-21FE-C319-2758E47F9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59B83-EE57-48C5-9A6E-E45C2A754FF0}" type="datetimeFigureOut">
              <a:rPr lang="LID4096" smtClean="0"/>
              <a:t>11/16/2025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EC0321-6734-8F22-9319-FC06A6328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2A693D-A17E-B7F2-C721-09C3689F3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574D-9C3D-466B-9124-0798C71C996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73026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8A797-9588-CFB9-FC40-917EA1238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7D1903-B515-BF51-69D5-A32442B2F0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BDB45-6019-4237-2E71-9DD976C14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59B83-EE57-48C5-9A6E-E45C2A754FF0}" type="datetimeFigureOut">
              <a:rPr lang="LID4096" smtClean="0"/>
              <a:t>11/16/2025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B78DF-B524-0100-D2AD-C41DEE213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2C3AB-C702-9C67-5410-DD6FA66B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574D-9C3D-466B-9124-0798C71C996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21182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728C50-4180-BF75-F13D-BD748B3357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C0C20B-0F12-F93A-2B3D-6F311AD75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0A91B-D77C-2D5E-EAB6-936054EEA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59B83-EE57-48C5-9A6E-E45C2A754FF0}" type="datetimeFigureOut">
              <a:rPr lang="LID4096" smtClean="0"/>
              <a:t>11/16/2025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E1C60-C485-D6B7-8F47-2831F24CC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E168E-8CB6-4465-C367-6A66758BF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574D-9C3D-466B-9124-0798C71C996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29243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5B74E8-6AF6-DB66-460D-1F85DB552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6EC41-5582-48E8-B4AD-751986FD3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CEA7E-62CA-E21F-121E-D604B5DFAE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E59B83-EE57-48C5-9A6E-E45C2A754FF0}" type="datetimeFigureOut">
              <a:rPr lang="LID4096" smtClean="0"/>
              <a:t>11/16/2025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29091-8441-9876-2E4E-AA0E49BDA9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C2841-34F2-65D6-8698-214BC9619A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97574D-9C3D-466B-9124-0798C71C996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07394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Vaccine storage and manufacturing">
            <a:extLst>
              <a:ext uri="{FF2B5EF4-FFF2-40B4-BE49-F238E27FC236}">
                <a16:creationId xmlns:a16="http://schemas.microsoft.com/office/drawing/2014/main" id="{976203D8-D4F9-2B10-D7B0-DC3B8A15CA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370"/>
          <a:stretch>
            <a:fillRect/>
          </a:stretch>
        </p:blipFill>
        <p:spPr>
          <a:xfrm>
            <a:off x="20" y="-7619"/>
            <a:ext cx="12191979" cy="68873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7620"/>
            <a:ext cx="5566593" cy="6887364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067CD3-146F-6228-E362-39AA720C2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863442" y="855815"/>
            <a:ext cx="6887365" cy="5160474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1000"/>
                </a:schemeClr>
              </a:gs>
              <a:gs pos="83000">
                <a:schemeClr val="accent5">
                  <a:alpha val="0"/>
                </a:schemeClr>
              </a:gs>
            </a:gsLst>
            <a:lin ang="51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1C7E5C-A0F8-E9FA-56DB-31A257FD4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-7648"/>
            <a:ext cx="2079513" cy="6865647"/>
          </a:xfrm>
          <a:prstGeom prst="rect">
            <a:avLst/>
          </a:prstGeom>
          <a:gradFill flip="none" rotWithShape="1">
            <a:gsLst>
              <a:gs pos="5000">
                <a:schemeClr val="accent5"/>
              </a:gs>
              <a:gs pos="49000">
                <a:schemeClr val="accent5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F70A3C-4474-2A39-470C-FD55A8837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7706777" y="3068761"/>
            <a:ext cx="4504659" cy="378923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60000">
                <a:schemeClr val="accent5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C3F7D4-9613-0E1F-901C-98FE831DE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8774557" y="-6485"/>
            <a:ext cx="3427160" cy="6879745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D5167C-AF48-26F0-7A9F-3F7643374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64705" y="-1061856"/>
            <a:ext cx="3682024" cy="12211438"/>
          </a:xfrm>
          <a:prstGeom prst="rect">
            <a:avLst/>
          </a:prstGeom>
          <a:gradFill>
            <a:gsLst>
              <a:gs pos="0">
                <a:schemeClr val="accent5"/>
              </a:gs>
              <a:gs pos="65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B30A01-FCA8-86A5-A840-C32A3BE2E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6" y="-7639"/>
            <a:ext cx="4879823" cy="6887373"/>
          </a:xfrm>
          <a:prstGeom prst="rect">
            <a:avLst/>
          </a:prstGeom>
          <a:gradFill>
            <a:gsLst>
              <a:gs pos="0">
                <a:schemeClr val="accent2">
                  <a:alpha val="70000"/>
                </a:schemeClr>
              </a:gs>
              <a:gs pos="44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7593C-B93B-FCCD-985F-9320ACC972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9028" y="2155188"/>
            <a:ext cx="4160233" cy="2839273"/>
          </a:xfrm>
        </p:spPr>
        <p:txBody>
          <a:bodyPr>
            <a:normAutofit/>
          </a:bodyPr>
          <a:lstStyle/>
          <a:p>
            <a:pPr algn="l"/>
            <a:r>
              <a:rPr lang="en-GB" sz="3400" b="1">
                <a:solidFill>
                  <a:srgbClr val="FFFFFF"/>
                </a:solidFill>
              </a:rPr>
              <a:t>Donor Retention Prediction Project</a:t>
            </a:r>
            <a:br>
              <a:rPr lang="en-GB" sz="3400">
                <a:solidFill>
                  <a:srgbClr val="FFFFFF"/>
                </a:solidFill>
              </a:rPr>
            </a:br>
            <a:r>
              <a:rPr lang="en-GB" sz="3400">
                <a:solidFill>
                  <a:srgbClr val="FFFFFF"/>
                </a:solidFill>
              </a:rPr>
              <a:t>Predicting 2018 Donor Behavior Using Machine Learning</a:t>
            </a:r>
            <a:endParaRPr lang="LID4096" sz="34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DB33E5-E51B-FC28-ECA5-40C578390C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028" y="5166367"/>
            <a:ext cx="4160233" cy="850998"/>
          </a:xfrm>
        </p:spPr>
        <p:txBody>
          <a:bodyPr>
            <a:normAutofit/>
          </a:bodyPr>
          <a:lstStyle/>
          <a:p>
            <a:pPr algn="l"/>
            <a:r>
              <a:rPr lang="en-GB" sz="1700" b="1" dirty="0">
                <a:solidFill>
                  <a:srgbClr val="FFFFFF"/>
                </a:solidFill>
              </a:rPr>
              <a:t>Prepared by:</a:t>
            </a:r>
            <a:r>
              <a:rPr lang="en-GB" sz="1700" dirty="0">
                <a:solidFill>
                  <a:srgbClr val="FFFFFF"/>
                </a:solidFill>
              </a:rPr>
              <a:t> Artea </a:t>
            </a:r>
            <a:r>
              <a:rPr lang="en-GB" sz="1700" dirty="0" err="1">
                <a:solidFill>
                  <a:srgbClr val="FFFFFF"/>
                </a:solidFill>
              </a:rPr>
              <a:t>Myftiu</a:t>
            </a:r>
            <a:br>
              <a:rPr lang="en-GB" sz="1700" dirty="0">
                <a:solidFill>
                  <a:srgbClr val="FFFFFF"/>
                </a:solidFill>
              </a:rPr>
            </a:br>
            <a:r>
              <a:rPr lang="en-GB" sz="1700" b="1" dirty="0">
                <a:solidFill>
                  <a:srgbClr val="FFFFFF"/>
                </a:solidFill>
              </a:rPr>
              <a:t>UNYT</a:t>
            </a:r>
            <a:br>
              <a:rPr lang="en-GB" sz="1700" dirty="0">
                <a:solidFill>
                  <a:srgbClr val="FFFFFF"/>
                </a:solidFill>
              </a:rPr>
            </a:br>
            <a:r>
              <a:rPr lang="en-GB" sz="1700" b="1" dirty="0">
                <a:solidFill>
                  <a:srgbClr val="FFFFFF"/>
                </a:solidFill>
              </a:rPr>
              <a:t>Date:</a:t>
            </a:r>
            <a:r>
              <a:rPr lang="en-GB" sz="1700" dirty="0">
                <a:solidFill>
                  <a:srgbClr val="FFFFFF"/>
                </a:solidFill>
              </a:rPr>
              <a:t>16/11/2025</a:t>
            </a:r>
            <a:endParaRPr lang="LID4096" sz="1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3546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8F6A41-05BA-3E2E-0698-055B2E524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sq-AL" sz="4000" dirty="0" err="1"/>
              <a:t>Business</a:t>
            </a:r>
            <a:r>
              <a:rPr lang="sq-AL" sz="4000" dirty="0"/>
              <a:t> Problem</a:t>
            </a:r>
            <a:endParaRPr lang="LID4096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8A9EF-86A2-4EDE-8853-7837E22DF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GB" sz="1400" b="1" dirty="0"/>
              <a:t>Challenge:</a:t>
            </a:r>
            <a:br>
              <a:rPr lang="en-GB" sz="1400" dirty="0"/>
            </a:br>
            <a:r>
              <a:rPr lang="en-GB" sz="1400" dirty="0"/>
              <a:t>Mailing every donor is expensive and inefficient.</a:t>
            </a:r>
          </a:p>
          <a:p>
            <a:r>
              <a:rPr lang="en-GB" sz="1400" b="1" dirty="0"/>
              <a:t>Goal:</a:t>
            </a:r>
            <a:br>
              <a:rPr lang="en-GB" sz="1400" dirty="0"/>
            </a:br>
            <a:r>
              <a:rPr lang="en-GB" sz="1400" dirty="0"/>
              <a:t>Predict which donors are most likely to donate again → optimize mailing strategy.</a:t>
            </a:r>
          </a:p>
          <a:p>
            <a:r>
              <a:rPr lang="en-GB" sz="1400" b="1" dirty="0"/>
              <a:t>Why it matters:</a:t>
            </a:r>
            <a:br>
              <a:rPr lang="en-GB" sz="1400" dirty="0"/>
            </a:br>
            <a:r>
              <a:rPr lang="en-GB" sz="1400" dirty="0"/>
              <a:t>• Physical mail is costly</a:t>
            </a:r>
            <a:br>
              <a:rPr lang="en-GB" sz="1400" dirty="0"/>
            </a:br>
            <a:r>
              <a:rPr lang="en-GB" sz="1400" dirty="0"/>
              <a:t>• Only ~20% of donors respond</a:t>
            </a:r>
            <a:br>
              <a:rPr lang="en-GB" sz="1400" dirty="0"/>
            </a:br>
            <a:r>
              <a:rPr lang="en-GB" sz="1400" dirty="0"/>
              <a:t>• Smarter targeting → higher profit with lower cost</a:t>
            </a:r>
          </a:p>
        </p:txBody>
      </p:sp>
    </p:spTree>
    <p:extLst>
      <p:ext uri="{BB962C8B-B14F-4D97-AF65-F5344CB8AC3E}">
        <p14:creationId xmlns:p14="http://schemas.microsoft.com/office/powerpoint/2010/main" val="2889948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A7FAAB-AABA-0DDF-2DC2-6651B51B2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sq-AL" sz="4000" dirty="0">
                <a:solidFill>
                  <a:srgbClr val="FFFFFF"/>
                </a:solidFill>
              </a:rPr>
              <a:t>Data &amp; </a:t>
            </a:r>
            <a:r>
              <a:rPr lang="sq-AL" sz="4000" dirty="0" err="1">
                <a:solidFill>
                  <a:srgbClr val="FFFFFF"/>
                </a:solidFill>
              </a:rPr>
              <a:t>Features</a:t>
            </a:r>
            <a:endParaRPr lang="LID4096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58BDB-7817-7B19-3DFF-50B11EAB0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GB" sz="2000" b="1" dirty="0"/>
              <a:t>Data Sources (2012–2018):</a:t>
            </a:r>
            <a:br>
              <a:rPr lang="en-GB" sz="2000" dirty="0"/>
            </a:br>
            <a:r>
              <a:rPr lang="en-GB" sz="2000" dirty="0"/>
              <a:t>• Donor demographics</a:t>
            </a:r>
            <a:br>
              <a:rPr lang="en-GB" sz="2000" dirty="0"/>
            </a:br>
            <a:r>
              <a:rPr lang="en-GB" sz="2000" dirty="0"/>
              <a:t>• Gift history (dates, amounts)</a:t>
            </a:r>
            <a:br>
              <a:rPr lang="en-GB" sz="2000" dirty="0"/>
            </a:br>
            <a:r>
              <a:rPr lang="en-GB" sz="2000" dirty="0"/>
              <a:t>• Engineered RFM features (recency, frequency, monetary)</a:t>
            </a:r>
            <a:br>
              <a:rPr lang="en-GB" sz="2000" dirty="0"/>
            </a:br>
            <a:r>
              <a:rPr lang="en-GB" sz="2000" dirty="0"/>
              <a:t>• Trend &amp; lifetime metrics</a:t>
            </a:r>
          </a:p>
          <a:p>
            <a:r>
              <a:rPr lang="en-GB" sz="2000" b="1" dirty="0"/>
              <a:t>Target Variable:</a:t>
            </a:r>
            <a:br>
              <a:rPr lang="en-GB" sz="2000" dirty="0"/>
            </a:br>
            <a:r>
              <a:rPr lang="en-GB" sz="2000" dirty="0"/>
              <a:t>Donated in 2018 (yes/no)</a:t>
            </a:r>
          </a:p>
          <a:p>
            <a:r>
              <a:rPr lang="en-GB" sz="2000" b="1" dirty="0"/>
              <a:t>Dataset size:</a:t>
            </a:r>
            <a:br>
              <a:rPr lang="en-GB" sz="2000" dirty="0"/>
            </a:br>
            <a:r>
              <a:rPr lang="en-GB" sz="2000" dirty="0"/>
              <a:t>• Training (2017): 900 donors</a:t>
            </a:r>
            <a:br>
              <a:rPr lang="en-GB" sz="2000" dirty="0"/>
            </a:br>
            <a:r>
              <a:rPr lang="en-GB" sz="2000" dirty="0"/>
              <a:t>• Test (2018): 651 donors</a:t>
            </a:r>
          </a:p>
        </p:txBody>
      </p:sp>
    </p:spTree>
    <p:extLst>
      <p:ext uri="{BB962C8B-B14F-4D97-AF65-F5344CB8AC3E}">
        <p14:creationId xmlns:p14="http://schemas.microsoft.com/office/powerpoint/2010/main" val="2037990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61274-2DF1-E7ED-7B87-B08D0DDC1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Model Performance (Test Set AUC)</a:t>
            </a:r>
            <a:endParaRPr lang="LID4096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3A907-885C-74DB-070A-9542022AF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sq-AL" sz="2000" b="1"/>
              <a:t>Best Model: Stepwise Logistic Regression</a:t>
            </a:r>
            <a:br>
              <a:rPr lang="sq-AL" sz="2000"/>
            </a:br>
            <a:r>
              <a:rPr lang="sq-AL" sz="2000"/>
              <a:t>AUC = </a:t>
            </a:r>
            <a:r>
              <a:rPr lang="sq-AL" sz="2000" b="1"/>
              <a:t>0.693</a:t>
            </a:r>
            <a:r>
              <a:rPr lang="sq-AL" sz="2000"/>
              <a:t> (highest)</a:t>
            </a:r>
          </a:p>
          <a:p>
            <a:r>
              <a:rPr lang="sq-AL" sz="2000" b="1"/>
              <a:t>Other Models:</a:t>
            </a:r>
            <a:br>
              <a:rPr lang="sq-AL" sz="2000"/>
            </a:br>
            <a:r>
              <a:rPr lang="sq-AL" sz="2000"/>
              <a:t>• Logistic full: 0.669</a:t>
            </a:r>
            <a:br>
              <a:rPr lang="sq-AL" sz="2000"/>
            </a:br>
            <a:r>
              <a:rPr lang="sq-AL" sz="2000"/>
              <a:t>• Random Forest: 0.660</a:t>
            </a:r>
            <a:br>
              <a:rPr lang="sq-AL" sz="2000"/>
            </a:br>
            <a:r>
              <a:rPr lang="sq-AL" sz="2000"/>
              <a:t>• Default decision tree: 0.618</a:t>
            </a:r>
            <a:br>
              <a:rPr lang="sq-AL" sz="2000"/>
            </a:br>
            <a:r>
              <a:rPr lang="sq-AL" sz="2000"/>
              <a:t>• Bagging: 0.614</a:t>
            </a:r>
            <a:br>
              <a:rPr lang="sq-AL" sz="2000"/>
            </a:br>
            <a:r>
              <a:rPr lang="sq-AL" sz="2000"/>
              <a:t>• Boosting: 0.563</a:t>
            </a:r>
            <a:br>
              <a:rPr lang="sq-AL" sz="2000"/>
            </a:br>
            <a:r>
              <a:rPr lang="sq-AL" sz="2000"/>
              <a:t>• Tuned tree (overfit): 0.545</a:t>
            </a:r>
          </a:p>
          <a:p>
            <a:r>
              <a:rPr lang="sq-AL" sz="2000" b="1"/>
              <a:t>Conclusion:</a:t>
            </a:r>
            <a:br>
              <a:rPr lang="sq-AL" sz="2000"/>
            </a:br>
            <a:r>
              <a:rPr lang="sq-AL" sz="2000"/>
              <a:t>Simple → better.</a:t>
            </a:r>
            <a:br>
              <a:rPr lang="sq-AL" sz="2000"/>
            </a:br>
            <a:r>
              <a:rPr lang="sq-AL" sz="2000"/>
              <a:t>Selected Logistic is most accurate, interpretable, and stable.</a:t>
            </a:r>
          </a:p>
          <a:p>
            <a:endParaRPr lang="LID4096" sz="2000"/>
          </a:p>
        </p:txBody>
      </p:sp>
    </p:spTree>
    <p:extLst>
      <p:ext uri="{BB962C8B-B14F-4D97-AF65-F5344CB8AC3E}">
        <p14:creationId xmlns:p14="http://schemas.microsoft.com/office/powerpoint/2010/main" val="1895609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BD0066-E627-0CF2-75D4-5E218C627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sq-AL" sz="4000">
                <a:solidFill>
                  <a:srgbClr val="FFFFFF"/>
                </a:solidFill>
              </a:rPr>
              <a:t>Key Drivers of Donation</a:t>
            </a:r>
            <a:endParaRPr lang="LID4096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595F00-7349-06E0-D9D0-A9AAEB5F75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5903084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9832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9425CC-92E5-43AE-753F-01FEB467E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 Performance Overview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A1BFE2C-F6B5-51D9-587A-14958CF163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38731"/>
              </p:ext>
            </p:extLst>
          </p:nvPr>
        </p:nvGraphicFramePr>
        <p:xfrm>
          <a:off x="639176" y="1966293"/>
          <a:ext cx="10913648" cy="44521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10674">
                  <a:extLst>
                    <a:ext uri="{9D8B030D-6E8A-4147-A177-3AD203B41FA5}">
                      <a16:colId xmlns:a16="http://schemas.microsoft.com/office/drawing/2014/main" val="4027058345"/>
                    </a:ext>
                  </a:extLst>
                </a:gridCol>
                <a:gridCol w="3802974">
                  <a:extLst>
                    <a:ext uri="{9D8B030D-6E8A-4147-A177-3AD203B41FA5}">
                      <a16:colId xmlns:a16="http://schemas.microsoft.com/office/drawing/2014/main" val="2842399268"/>
                    </a:ext>
                  </a:extLst>
                </a:gridCol>
              </a:tblGrid>
              <a:tr h="556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q-AL" sz="16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Model</a:t>
                      </a:r>
                      <a:endParaRPr lang="sq-AL" sz="16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60869" marR="135652" marT="135652" marB="1356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q-AL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Test AUC</a:t>
                      </a:r>
                      <a:endParaRPr lang="sq-AL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60869" marR="135652" marT="135652" marB="1356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9256289"/>
                  </a:ext>
                </a:extLst>
              </a:tr>
              <a:tr h="556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q-AL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Logistic (Full)</a:t>
                      </a:r>
                    </a:p>
                  </a:txBody>
                  <a:tcPr marL="260869" marR="135652" marT="135652" marB="1356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~0.75</a:t>
                      </a:r>
                    </a:p>
                  </a:txBody>
                  <a:tcPr marL="260869" marR="135652" marT="135652" marB="1356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31071"/>
                  </a:ext>
                </a:extLst>
              </a:tr>
              <a:tr h="556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q-AL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Logistic (Selected)</a:t>
                      </a:r>
                    </a:p>
                  </a:txBody>
                  <a:tcPr marL="260869" marR="135652" marT="135652" marB="1356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~0.76</a:t>
                      </a:r>
                    </a:p>
                  </a:txBody>
                  <a:tcPr marL="260869" marR="135652" marT="135652" marB="1356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601531"/>
                  </a:ext>
                </a:extLst>
              </a:tr>
              <a:tr h="556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q-AL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Decision Tree</a:t>
                      </a:r>
                    </a:p>
                  </a:txBody>
                  <a:tcPr marL="260869" marR="135652" marT="135652" marB="1356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~0.72</a:t>
                      </a:r>
                    </a:p>
                  </a:txBody>
                  <a:tcPr marL="260869" marR="135652" marT="135652" marB="1356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64222"/>
                  </a:ext>
                </a:extLst>
              </a:tr>
              <a:tr h="556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q-AL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Tuned Tree</a:t>
                      </a:r>
                    </a:p>
                  </a:txBody>
                  <a:tcPr marL="260869" marR="135652" marT="135652" marB="1356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~0.74</a:t>
                      </a:r>
                    </a:p>
                  </a:txBody>
                  <a:tcPr marL="260869" marR="135652" marT="135652" marB="1356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217898"/>
                  </a:ext>
                </a:extLst>
              </a:tr>
              <a:tr h="556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q-AL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Bagged Trees</a:t>
                      </a:r>
                    </a:p>
                  </a:txBody>
                  <a:tcPr marL="260869" marR="135652" marT="135652" marB="1356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~0.78</a:t>
                      </a:r>
                    </a:p>
                  </a:txBody>
                  <a:tcPr marL="260869" marR="135652" marT="135652" marB="1356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733627"/>
                  </a:ext>
                </a:extLst>
              </a:tr>
              <a:tr h="556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q-AL" sz="16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Random Forest</a:t>
                      </a:r>
                      <a:endParaRPr lang="sq-AL" sz="16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60869" marR="135652" marT="135652" marB="1356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~0.82</a:t>
                      </a:r>
                      <a:endParaRPr lang="en-DE" sz="16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60869" marR="135652" marT="135652" marB="1356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4821942"/>
                  </a:ext>
                </a:extLst>
              </a:tr>
              <a:tr h="556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q-AL" sz="16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Gradient Boosting (XGBoost)</a:t>
                      </a:r>
                      <a:endParaRPr lang="sq-AL" sz="16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60869" marR="135652" marT="135652" marB="1356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q-AL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~0.84 (</a:t>
                      </a:r>
                      <a:r>
                        <a:rPr lang="sq-AL" sz="16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Best</a:t>
                      </a:r>
                      <a:r>
                        <a:rPr lang="sq-AL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)</a:t>
                      </a:r>
                      <a:endParaRPr lang="sq-AL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60869" marR="135652" marT="135652" marB="1356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611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1275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635025A-FE9F-E20A-261F-B2779FEA7A8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8C8D3E-69FE-1AB2-EE55-9C4893983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q-AL" dirty="0" err="1"/>
              <a:t>Business</a:t>
            </a:r>
            <a:r>
              <a:rPr lang="sq-AL" dirty="0"/>
              <a:t> </a:t>
            </a:r>
            <a:r>
              <a:rPr lang="sq-AL" dirty="0" err="1"/>
              <a:t>Impact</a:t>
            </a:r>
            <a:endParaRPr lang="LID4096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64AFAF-32FD-1EF0-88A6-93178C5BEF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369380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01419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69E05B-B18F-1035-4A85-03D299E80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sq-AL" sz="3700">
                <a:solidFill>
                  <a:srgbClr val="FFFFFF"/>
                </a:solidFill>
              </a:rPr>
              <a:t>Recommended Strategy</a:t>
            </a:r>
            <a:endParaRPr lang="LID4096" sz="37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528B5-E43D-ABA3-8705-F0ADE82A9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700" b="1" dirty="0"/>
              <a:t>Recommended Model: Gradient Boosting (</a:t>
            </a:r>
            <a:r>
              <a:rPr lang="en-GB" sz="1700" b="1" dirty="0" err="1"/>
              <a:t>XGBoost</a:t>
            </a:r>
            <a:r>
              <a:rPr lang="en-GB" sz="1700" b="1" dirty="0"/>
              <a:t>)</a:t>
            </a:r>
            <a:endParaRPr lang="en-GB" sz="1700" dirty="0"/>
          </a:p>
          <a:p>
            <a:r>
              <a:rPr lang="en-GB" sz="1700" dirty="0"/>
              <a:t>Highest AUC (~0.84)</a:t>
            </a:r>
          </a:p>
          <a:p>
            <a:r>
              <a:rPr lang="en-GB" sz="1700" dirty="0"/>
              <a:t>Captures most high-value donors</a:t>
            </a:r>
          </a:p>
          <a:p>
            <a:r>
              <a:rPr lang="en-GB" sz="1700" dirty="0"/>
              <a:t>Stable across folds, low variance</a:t>
            </a:r>
          </a:p>
          <a:p>
            <a:r>
              <a:rPr lang="en-GB" sz="1700" dirty="0"/>
              <a:t>Works well with complex donor </a:t>
            </a:r>
            <a:r>
              <a:rPr lang="en-GB" sz="1700" dirty="0" err="1"/>
              <a:t>behavior</a:t>
            </a:r>
            <a:r>
              <a:rPr lang="en-GB" sz="1700" dirty="0"/>
              <a:t> patterns</a:t>
            </a:r>
          </a:p>
          <a:p>
            <a:pPr marL="0" indent="0">
              <a:buNone/>
            </a:pPr>
            <a:r>
              <a:rPr lang="en-GB" sz="1700" b="1" dirty="0"/>
              <a:t>Targeting Recommendation</a:t>
            </a:r>
          </a:p>
          <a:p>
            <a:r>
              <a:rPr lang="en-GB" sz="1700" dirty="0"/>
              <a:t>Contact top </a:t>
            </a:r>
            <a:r>
              <a:rPr lang="en-GB" sz="1700" b="1" dirty="0"/>
              <a:t>30–40%</a:t>
            </a:r>
            <a:r>
              <a:rPr lang="en-GB" sz="1700" dirty="0"/>
              <a:t> of donors ranked by model score</a:t>
            </a:r>
          </a:p>
          <a:p>
            <a:r>
              <a:rPr lang="en-GB" sz="1700" dirty="0"/>
              <a:t>Expected results:</a:t>
            </a:r>
          </a:p>
          <a:p>
            <a:pPr lvl="1"/>
            <a:r>
              <a:rPr lang="en-GB" sz="1700" b="1" dirty="0"/>
              <a:t>Higher net profit</a:t>
            </a:r>
            <a:endParaRPr lang="en-GB" sz="1700" dirty="0"/>
          </a:p>
          <a:p>
            <a:pPr lvl="1"/>
            <a:r>
              <a:rPr lang="en-GB" sz="1700" b="1" dirty="0"/>
              <a:t>Lower mailing costs</a:t>
            </a:r>
            <a:endParaRPr lang="en-GB" sz="1700" dirty="0"/>
          </a:p>
          <a:p>
            <a:pPr lvl="1"/>
            <a:r>
              <a:rPr lang="en-GB" sz="1700" b="1" dirty="0"/>
              <a:t>More accurate donor prioritization</a:t>
            </a:r>
            <a:endParaRPr lang="en-GB" sz="1700" dirty="0"/>
          </a:p>
          <a:p>
            <a:pPr marL="0" indent="0">
              <a:buNone/>
            </a:pPr>
            <a:r>
              <a:rPr lang="en-GB" sz="1700" b="1" dirty="0"/>
              <a:t>Risk &amp; Mitigation</a:t>
            </a:r>
          </a:p>
          <a:p>
            <a:r>
              <a:rPr lang="en-GB" sz="1700" dirty="0"/>
              <a:t>Risk: Not contacting low-score donors</a:t>
            </a:r>
          </a:p>
          <a:p>
            <a:r>
              <a:rPr lang="en-GB" sz="1700" dirty="0"/>
              <a:t>Mitigation:</a:t>
            </a:r>
          </a:p>
          <a:p>
            <a:pPr lvl="1"/>
            <a:r>
              <a:rPr lang="en-GB" sz="1700" dirty="0"/>
              <a:t>Occasionally rotate low-score donors into tests</a:t>
            </a:r>
          </a:p>
          <a:p>
            <a:pPr lvl="1"/>
            <a:r>
              <a:rPr lang="en-GB" sz="1700" dirty="0"/>
              <a:t>Monitor long-term giving patterns</a:t>
            </a:r>
          </a:p>
          <a:p>
            <a:endParaRPr lang="LID4096" sz="1700" dirty="0"/>
          </a:p>
        </p:txBody>
      </p:sp>
    </p:spTree>
    <p:extLst>
      <p:ext uri="{BB962C8B-B14F-4D97-AF65-F5344CB8AC3E}">
        <p14:creationId xmlns:p14="http://schemas.microsoft.com/office/powerpoint/2010/main" val="1564967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30D129-2758-B735-AC67-3349239A3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r>
              <a:rPr lang="sq-AL" sz="4000" dirty="0" err="1"/>
              <a:t>Executive</a:t>
            </a:r>
            <a:r>
              <a:rPr lang="sq-AL" sz="4000" dirty="0"/>
              <a:t> </a:t>
            </a:r>
            <a:r>
              <a:rPr lang="sq-AL" sz="4000" dirty="0" err="1"/>
              <a:t>Summary</a:t>
            </a:r>
            <a:endParaRPr lang="LID4096" sz="4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223A15-FA6B-10AC-B293-72D233CA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62" r="32759" b="2"/>
          <a:stretch>
            <a:fillRect/>
          </a:stretch>
        </p:blipFill>
        <p:spPr>
          <a:xfrm>
            <a:off x="7989293" y="1904282"/>
            <a:ext cx="3423093" cy="422480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DC3B263-D335-4587-1129-79FE160076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4056892"/>
              </p:ext>
            </p:extLst>
          </p:nvPr>
        </p:nvGraphicFramePr>
        <p:xfrm>
          <a:off x="838200" y="1825625"/>
          <a:ext cx="6714744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40700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556</Words>
  <Application>Microsoft Office PowerPoint</Application>
  <PresentationFormat>Widescreen</PresentationFormat>
  <Paragraphs>71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Donor Retention Prediction Project Predicting 2018 Donor Behavior Using Machine Learning</vt:lpstr>
      <vt:lpstr>Business Problem</vt:lpstr>
      <vt:lpstr>Data &amp; Features</vt:lpstr>
      <vt:lpstr>Model Performance (Test Set AUC)</vt:lpstr>
      <vt:lpstr>Key Drivers of Donation</vt:lpstr>
      <vt:lpstr>Model Performance Overview</vt:lpstr>
      <vt:lpstr>Business Impact</vt:lpstr>
      <vt:lpstr>Recommended Strategy</vt:lpstr>
      <vt:lpstr>Executive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ARTEA MYFTIU</dc:creator>
  <cp:lastModifiedBy>ARTEA MYFTIU</cp:lastModifiedBy>
  <cp:revision>3</cp:revision>
  <dcterms:created xsi:type="dcterms:W3CDTF">2025-11-16T10:29:12Z</dcterms:created>
  <dcterms:modified xsi:type="dcterms:W3CDTF">2025-11-16T10:44:58Z</dcterms:modified>
</cp:coreProperties>
</file>